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팀 소개 및 발표 시작 인사.
(대본 미지정 - 팀/발표자 소개 멘트를 자유롭게 채워서 진행)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클라우드 네이티브 환경에서 보안 사고는 단 하나의 계층에서 끝나지 않습니다. 어떤 공격자가 외부 방어벽을 우회해 WAS 로그에 정찰성 요청을 남기고, 최종적으로 K8s Audit 로그에 권한 상승 시도를 남겼다고 가정해 보겠습니다. 만약 인프라 엔지니어가 이 세 가지 로그를 따로따로 본다면, 이것이 동일 인물의 조직적인 단일 공격이라는 것을 알아챌 수 있을까요? 불가능합니다. 로그가 파편화되어 있기 때문에 보안 사각지대가 발생하고, 초동 대처는 늦어질 수밖에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[0:40–1:40]
저희는 이 문제를 해결하기 위해, 파편화된 인프라 로그를 유기적으로 조립하는 통합 보안 관찰 플랫폼, SENTINEL-OPS를 개발했습니다. 저희 플랫폼의 핵심은 크게 네 가지입니다. 첫째, WAF, WAS, K8s Audit, Falco까지 4개 계층의 로그 소스를 통합 수집합니다. 둘째, 내장된 32개의 상관분석 시나리오를 기반으로 흩어진 파편 로그를 하나의 단일 인시던트로 자동 재구성합니다. 셋째, 탐지된 위협을 MITRE ATT&amp;CK 프레임워크에 맞춰 자동 태깅하며, 마지막으로 이 모든 침해 경로를 직관적인 실시간 트리 지도 대시보드로 시각화합니다.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[1:40–~3:05] (데모 전반부)
실제 구현된 SENTINEL-OPS의 데모 영상을 보며 말씀드리겠습니다. 먼저 메인 Overview 화면입니다. 화면 상단의 지표들은 실시간 2초 폴링 주기로 갱신되는 핵심 KPI입니다. 중간의 Log Volume 추이를 보시면, 23시 구간에 평소 대비 로그가 급증한 이상 징후를 보실 수 있습니다. 하단의 인시던트 목록으로 이동해 보겠습니다. 여기서 보이는 인시던트 하나하나는 서로 다른 3개의 로그 소스가 결합된 결과물입니다. 더 자세한 분석을 위해, 상단 검색창에 23시 급증 구간의 특정 네임스페이스와 크리티컬 조건을 입력해 필터링해 보겠습니다.
[리허설 팁] 영상 타임라인과 대본 멘트 싱크를 정확히 맞출 것 — Overview → 검색 전환 시점에 맞춰 말하기.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[~3:05–4:30] (데모 후반부)
조건을 적용하면, 본 플랫폼의 핵심인 실시간 위협 추적 트리 지도로 전환됩니다. 사용자의 세션 ID와 IP를 기반으로 WAF 인그레스부터 WAS의 접속 URL, 해당 요청을 처리하는 K8s Pod까지의 동선이 실시간 방사형 맵으로 그려집니다. 사용자의 마우스 인터랙션에 따라 노드가 반응하며 추적을 유지합니다. 영상의 7초 구간을 보시죠. 침입자가 컨테이너 내부로 쉘 진입을 시도하는 순간, 런타임 보안 엔진인 Falco가 이 커널 시스템 콜을 감지합니다. 그 즉시 하단의 컨테이너 노드가 네온 레드 컬러의 펄스 신호로 깜빡이며 비상 경보 모드로 전환됩니다. 우측 터미널 위젯에는 실시간으로 실행된 쉘 명령어가 타이핑 효과로 출력되어, 관리자가 인프라 깊숙한 곳의 침해 사고를 단 3초 만에 시각적으로 인지하고 추적할 수 있게 합니다.
[리허설 팁] 영상의 트리맵 → Falco 붉은 펄스 전환 타이밍과 대본 싱크를 맞출 것. 특히 '7초 구간' 언급이 실제 영상 장면과 일치해야 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[4:30–6:50]
이 초저지연 시각화를 뒷받침하는 파이프라인 아키텍처입니다. 데이터 흐름의 투명성을 위해 복잡한 아이콘을 배제하고 논리적 컴포넌트로만 구성했습니다. 저희는 단순히 유행하는 기술을 나열한 것이 아니라, '특정 문제를 풀기 위해 가장 적합한 오픈소스'를 조합했습니다. 먼저 4개 소스에서 쏟아지는 대량의 데이터를 병목 없이 처리하기 위해 Kafka를 도입하여 소스별 토픽으로 결합도를 분리했습니다. 이후 normalizer가 포맷을 정규화하면, 핵심인 correlation-engine이 Threshold(임계치)와 Sequence(순차 실행) 두 가지 방식을 32개 시나리오에 대입해 실시간으로 이벤트를 평가합니다. 평가된 결과는 성격에 따라 3개의 서로 다른 저장소로 분산됩니다. 원본 로그 검색은 OpenSearch로, 트렌드 분석을 위한 대량 통계 데이터는 ClickHouse로, 그리고 인시던트의 상태 관리는 ACID가 보장되는 Postgres로 분기하여 아키텍처의 안정성과 데이터 무결성을 동시에 확보했습니다.
[리허설 팁] Kafka·OpenSearch·ClickHouse·Postgres를 각각 왜 나눠 썼는지 기술적 주관을 자신감 있고 또박또박한 어조로 전달할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[6:50–7:40]
SENTINEL-OPS는 단순한 프론트엔드 목업이 아닙니다. 저희는 실제 k3d 클러스터 환경을 구축하고, 취약한 웹 애플리케이션인 Juice Shop을 배포한 뒤 실제 해킹 트래픽을 주입하여 플랫폼의 정상 동작을 완전히 검증했습니다. 또한, 글로벌 보안 표준인 MITRE ATT&amp;CK의 공식 Containers 매트릭스를 기준으로 커버리지를 꼼꼼히 추적하고 있으며, 이를 통해 정밀한 위협 탐지 스코어를 보장합니다. 그라파나나 데이터독처럼 사용자가 직접 여러 패널을 오가며 로그를 유추해야 했던 기존 방식과 달리, 저희는 앉은 자리에서 완벽하게 맥락이 이어지는 시각적 동선을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[7:40–8:00]
파편화된 대량의 데이터를 직관적인 하나의 사건으로 연결하는 것, 그것이 SENTINEL-OPS가 클라우드 보안을 혁신하는 방식입니다. 경청해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669280" y="-2926080"/>
            <a:ext cx="8229600" cy="8229600"/>
          </a:xfrm>
          <a:prstGeom prst="ellipse">
            <a:avLst/>
          </a:prstGeom>
          <a:solidFill>
            <a:srgbClr val="00FFA6">
              <a:alpha val="8000"/>
            </a:srgbClr>
          </a:solidFill>
          <a:ln/>
        </p:spPr>
      </p:sp>
      <p:sp>
        <p:nvSpPr>
          <p:cNvPr id="3" name="Shape 1"/>
          <p:cNvSpPr/>
          <p:nvPr/>
        </p:nvSpPr>
        <p:spPr>
          <a:xfrm>
            <a:off x="8686800" y="-2377440"/>
            <a:ext cx="6858000" cy="6858000"/>
          </a:xfrm>
          <a:prstGeom prst="ellipse">
            <a:avLst/>
          </a:prstGeom>
          <a:solidFill>
            <a:srgbClr val="A64DFF">
              <a:alpha val="6000"/>
            </a:srgbClr>
          </a:solidFill>
          <a:ln/>
        </p:spPr>
      </p:sp>
      <p:sp>
        <p:nvSpPr>
          <p:cNvPr id="4" name="Text 2"/>
          <p:cNvSpPr/>
          <p:nvPr/>
        </p:nvSpPr>
        <p:spPr>
          <a:xfrm>
            <a:off x="548640" y="2286000"/>
            <a:ext cx="11091672" cy="1097280"/>
          </a:xfrm>
          <a:prstGeom prst="rect">
            <a:avLst/>
          </a:prstGeom>
          <a:noFill/>
          <a:ln/>
        </p:spPr>
        <p:txBody>
          <a:bodyPr wrap="square" lIns="0" tIns="0" rIns="0" bIns="0" rtlCol="0" anchor="ctr"/>
          <a:lstStyle/>
          <a:p>
            <a:pPr algn="ctr" indent="0" marL="0">
              <a:buNone/>
            </a:pPr>
            <a:r>
              <a:rPr lang="en-US" sz="5400" b="1" spc="300" kern="0" dirty="0">
                <a:solidFill>
                  <a:srgbClr val="00FFA6"/>
                </a:solidFill>
                <a:latin typeface="Arial" pitchFamily="34" charset="0"/>
                <a:ea typeface="Arial" pitchFamily="34" charset="-122"/>
                <a:cs typeface="Arial" pitchFamily="34" charset="-120"/>
              </a:rPr>
              <a:t>SENTINEL-OPS</a:t>
            </a:r>
            <a:endParaRPr lang="en-US" sz="5400" dirty="0"/>
          </a:p>
        </p:txBody>
      </p:sp>
      <p:sp>
        <p:nvSpPr>
          <p:cNvPr id="5" name="Text 3"/>
          <p:cNvSpPr/>
          <p:nvPr/>
        </p:nvSpPr>
        <p:spPr>
          <a:xfrm>
            <a:off x="548640" y="3429000"/>
            <a:ext cx="11091672" cy="548640"/>
          </a:xfrm>
          <a:prstGeom prst="rect">
            <a:avLst/>
          </a:prstGeom>
          <a:noFill/>
          <a:ln/>
        </p:spPr>
        <p:txBody>
          <a:bodyPr wrap="square" lIns="0" tIns="0" rIns="0" bIns="0" rtlCol="0" anchor="ctr"/>
          <a:lstStyle/>
          <a:p>
            <a:pPr algn="ctr" indent="0" marL="0">
              <a:buNone/>
            </a:pPr>
            <a:r>
              <a:rPr lang="en-US" sz="2200" dirty="0">
                <a:solidFill>
                  <a:srgbClr val="F2F5FF"/>
                </a:solidFill>
                <a:latin typeface="Arial" pitchFamily="34" charset="0"/>
                <a:ea typeface="Arial" pitchFamily="34" charset="-122"/>
                <a:cs typeface="Arial" pitchFamily="34" charset="-120"/>
              </a:rPr>
              <a:t>파편화된 인프라 로그를, 하나의 침해 스토리로</a:t>
            </a:r>
            <a:endParaRPr lang="en-US" sz="2200" dirty="0"/>
          </a:p>
        </p:txBody>
      </p:sp>
      <p:sp>
        <p:nvSpPr>
          <p:cNvPr id="6" name="Text 4"/>
          <p:cNvSpPr/>
          <p:nvPr/>
        </p:nvSpPr>
        <p:spPr>
          <a:xfrm>
            <a:off x="548640" y="3977640"/>
            <a:ext cx="11091672" cy="365760"/>
          </a:xfrm>
          <a:prstGeom prst="rect">
            <a:avLst/>
          </a:prstGeom>
          <a:noFill/>
          <a:ln/>
        </p:spPr>
        <p:txBody>
          <a:bodyPr wrap="square" lIns="0" tIns="0" rIns="0" bIns="0" rtlCol="0" anchor="ctr"/>
          <a:lstStyle/>
          <a:p>
            <a:pPr algn="ctr" indent="0" marL="0">
              <a:buNone/>
            </a:pPr>
            <a:r>
              <a:rPr lang="en-US" sz="1400" dirty="0">
                <a:solidFill>
                  <a:srgbClr val="8890B5"/>
                </a:solidFill>
                <a:latin typeface="Arial" pitchFamily="34" charset="0"/>
                <a:ea typeface="Arial" pitchFamily="34" charset="-122"/>
                <a:cs typeface="Arial" pitchFamily="34" charset="-120"/>
              </a:rPr>
              <a:t>WAF · WAS · K8s Audit · Falco 통합 보안 관제 플랫폼</a:t>
            </a:r>
            <a:endParaRPr lang="en-US" sz="1400" dirty="0"/>
          </a:p>
        </p:txBody>
      </p:sp>
      <p:sp>
        <p:nvSpPr>
          <p:cNvPr id="7" name="Text 5"/>
          <p:cNvSpPr/>
          <p:nvPr/>
        </p:nvSpPr>
        <p:spPr>
          <a:xfrm>
            <a:off x="548640" y="5989320"/>
            <a:ext cx="11091672" cy="365760"/>
          </a:xfrm>
          <a:prstGeom prst="rect">
            <a:avLst/>
          </a:prstGeom>
          <a:noFill/>
          <a:ln/>
        </p:spPr>
        <p:txBody>
          <a:bodyPr wrap="square" lIns="0" tIns="0" rIns="0" bIns="0" rtlCol="0" anchor="ctr"/>
          <a:lstStyle/>
          <a:p>
            <a:pPr algn="ctr" indent="0" marL="0">
              <a:buNone/>
            </a:pPr>
            <a:r>
              <a:rPr lang="en-US" sz="1300" dirty="0">
                <a:solidFill>
                  <a:srgbClr val="8890B5"/>
                </a:solidFill>
                <a:latin typeface="Arial" pitchFamily="34" charset="0"/>
                <a:ea typeface="Arial" pitchFamily="34" charset="-122"/>
                <a:cs typeface="Arial" pitchFamily="34" charset="-120"/>
              </a:rPr>
              <a:t>SENTINEL-OPS 팀 · 최종 발표</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48640" y="457200"/>
            <a:ext cx="2651760" cy="365760"/>
          </a:xfrm>
          <a:prstGeom prst="roundRect">
            <a:avLst>
              <a:gd name="adj" fmla="val 50000"/>
            </a:avLst>
          </a:prstGeom>
          <a:solidFill>
            <a:srgbClr val="16161B"/>
          </a:solidFill>
          <a:ln/>
        </p:spPr>
      </p:sp>
      <p:sp>
        <p:nvSpPr>
          <p:cNvPr id="3" name="Text 1"/>
          <p:cNvSpPr/>
          <p:nvPr/>
        </p:nvSpPr>
        <p:spPr>
          <a:xfrm>
            <a:off x="548640" y="457200"/>
            <a:ext cx="2651760" cy="365760"/>
          </a:xfrm>
          <a:prstGeom prst="rect">
            <a:avLst/>
          </a:prstGeom>
          <a:noFill/>
          <a:ln/>
        </p:spPr>
        <p:txBody>
          <a:bodyPr wrap="square" lIns="0" tIns="0" rIns="0" bIns="0" rtlCol="0" anchor="ctr"/>
          <a:lstStyle/>
          <a:p>
            <a:pPr algn="ctr" indent="0" marL="0">
              <a:buNone/>
            </a:pPr>
            <a:r>
              <a:rPr lang="en-US" sz="1200" b="1" dirty="0">
                <a:solidFill>
                  <a:srgbClr val="00FFA6"/>
                </a:solidFill>
                <a:latin typeface="Arial" pitchFamily="34" charset="0"/>
                <a:ea typeface="Arial" pitchFamily="34" charset="-122"/>
                <a:cs typeface="Arial" pitchFamily="34" charset="-120"/>
              </a:rPr>
              <a:t>01 · 문제의식</a:t>
            </a:r>
            <a:endParaRPr lang="en-US" sz="1200" dirty="0"/>
          </a:p>
        </p:txBody>
      </p:sp>
      <p:sp>
        <p:nvSpPr>
          <p:cNvPr id="4" name="Shape 2"/>
          <p:cNvSpPr/>
          <p:nvPr/>
        </p:nvSpPr>
        <p:spPr>
          <a:xfrm>
            <a:off x="9262872" y="457200"/>
            <a:ext cx="2377440" cy="365760"/>
          </a:xfrm>
          <a:prstGeom prst="roundRect">
            <a:avLst>
              <a:gd name="adj" fmla="val 50000"/>
            </a:avLst>
          </a:prstGeom>
          <a:solidFill>
            <a:srgbClr val="16161B"/>
          </a:solidFill>
          <a:ln/>
        </p:spPr>
      </p:sp>
      <p:sp>
        <p:nvSpPr>
          <p:cNvPr id="5" name="Text 3"/>
          <p:cNvSpPr/>
          <p:nvPr/>
        </p:nvSpPr>
        <p:spPr>
          <a:xfrm>
            <a:off x="9262872" y="457200"/>
            <a:ext cx="2377440" cy="365760"/>
          </a:xfrm>
          <a:prstGeom prst="rect">
            <a:avLst/>
          </a:prstGeom>
          <a:noFill/>
          <a:ln/>
        </p:spPr>
        <p:txBody>
          <a:bodyPr wrap="square" lIns="0" tIns="0" rIns="0" bIns="0" rtlCol="0" anchor="ctr"/>
          <a:lstStyle/>
          <a:p>
            <a:pPr algn="ctr" indent="0" marL="0">
              <a:buNone/>
            </a:pPr>
            <a:r>
              <a:rPr lang="en-US" sz="1100" dirty="0">
                <a:solidFill>
                  <a:srgbClr val="8890B5"/>
                </a:solidFill>
                <a:latin typeface="Courier New" pitchFamily="34" charset="0"/>
                <a:ea typeface="Courier New" pitchFamily="34" charset="-122"/>
                <a:cs typeface="Courier New" pitchFamily="34" charset="-120"/>
              </a:rPr>
              <a:t>00:00–00:40</a:t>
            </a:r>
            <a:endParaRPr lang="en-US" sz="1100" dirty="0"/>
          </a:p>
        </p:txBody>
      </p:sp>
      <p:sp>
        <p:nvSpPr>
          <p:cNvPr id="6" name="Text 4"/>
          <p:cNvSpPr/>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A6288"/>
                </a:solidFill>
                <a:latin typeface="Arial" pitchFamily="34" charset="0"/>
                <a:ea typeface="Arial" pitchFamily="34" charset="-122"/>
                <a:cs typeface="Arial" pitchFamily="34" charset="-120"/>
              </a:rPr>
              <a:t>2 / 8</a:t>
            </a:r>
            <a:endParaRPr lang="en-US" sz="1000" dirty="0"/>
          </a:p>
        </p:txBody>
      </p:sp>
      <p:sp>
        <p:nvSpPr>
          <p:cNvPr id="7" name="Text 5"/>
          <p:cNvSpPr/>
          <p:nvPr/>
        </p:nvSpPr>
        <p:spPr>
          <a:xfrm>
            <a:off x="548640" y="960120"/>
            <a:ext cx="11091672" cy="640080"/>
          </a:xfrm>
          <a:prstGeom prst="rect">
            <a:avLst/>
          </a:prstGeom>
          <a:noFill/>
          <a:ln/>
        </p:spPr>
        <p:txBody>
          <a:bodyPr wrap="square" lIns="0" tIns="0" rIns="0" bIns="0" rtlCol="0" anchor="ctr"/>
          <a:lstStyle/>
          <a:p>
            <a:pPr indent="0" marL="0">
              <a:buNone/>
            </a:pPr>
            <a:r>
              <a:rPr lang="en-US" sz="3200" b="1" dirty="0">
                <a:solidFill>
                  <a:srgbClr val="F2F5FF"/>
                </a:solidFill>
                <a:latin typeface="Arial" pitchFamily="34" charset="0"/>
                <a:ea typeface="Arial" pitchFamily="34" charset="-122"/>
                <a:cs typeface="Arial" pitchFamily="34" charset="-120"/>
              </a:rPr>
              <a:t>컨테이너 환경의 보안 사각지대</a:t>
            </a:r>
            <a:endParaRPr lang="en-US" sz="3200" dirty="0"/>
          </a:p>
        </p:txBody>
      </p:sp>
      <p:sp>
        <p:nvSpPr>
          <p:cNvPr id="8" name="Shape 6"/>
          <p:cNvSpPr/>
          <p:nvPr/>
        </p:nvSpPr>
        <p:spPr>
          <a:xfrm>
            <a:off x="548640" y="1965960"/>
            <a:ext cx="2743200" cy="1371600"/>
          </a:xfrm>
          <a:prstGeom prst="roundRect">
            <a:avLst>
              <a:gd name="adj" fmla="val 6667"/>
            </a:avLst>
          </a:prstGeom>
          <a:solidFill>
            <a:srgbClr val="16161B"/>
          </a:solidFill>
          <a:ln/>
          <a:effectLst>
            <a:outerShdw sx="100000" sy="100000" kx="0" ky="0" algn="bl" rotWithShape="0" blurRad="101600" dist="50800" dir="5400000">
              <a:srgbClr val="000000">
                <a:alpha val="45000"/>
              </a:srgbClr>
            </a:outerShdw>
          </a:effectLst>
        </p:spPr>
      </p:sp>
      <p:sp>
        <p:nvSpPr>
          <p:cNvPr id="9" name="Text 7"/>
          <p:cNvSpPr/>
          <p:nvPr/>
        </p:nvSpPr>
        <p:spPr>
          <a:xfrm>
            <a:off x="777240" y="2167128"/>
            <a:ext cx="2286000" cy="365760"/>
          </a:xfrm>
          <a:prstGeom prst="rect">
            <a:avLst/>
          </a:prstGeom>
          <a:noFill/>
          <a:ln/>
        </p:spPr>
        <p:txBody>
          <a:bodyPr wrap="square" lIns="0" tIns="0" rIns="0" bIns="0" rtlCol="0" anchor="ctr"/>
          <a:lstStyle/>
          <a:p>
            <a:pPr indent="0" marL="0">
              <a:buNone/>
            </a:pPr>
            <a:r>
              <a:rPr lang="en-US" sz="1700" b="1" dirty="0">
                <a:solidFill>
                  <a:srgbClr val="F2F5FF"/>
                </a:solidFill>
                <a:latin typeface="Arial" pitchFamily="34" charset="0"/>
                <a:ea typeface="Arial" pitchFamily="34" charset="-122"/>
                <a:cs typeface="Arial" pitchFamily="34" charset="-120"/>
              </a:rPr>
              <a:t>WAF 로그</a:t>
            </a:r>
            <a:endParaRPr lang="en-US" sz="1700" dirty="0"/>
          </a:p>
        </p:txBody>
      </p:sp>
      <p:sp>
        <p:nvSpPr>
          <p:cNvPr id="10" name="Text 8"/>
          <p:cNvSpPr/>
          <p:nvPr/>
        </p:nvSpPr>
        <p:spPr>
          <a:xfrm>
            <a:off x="777240" y="2569464"/>
            <a:ext cx="2286000" cy="365760"/>
          </a:xfrm>
          <a:prstGeom prst="rect">
            <a:avLst/>
          </a:prstGeom>
          <a:noFill/>
          <a:ln/>
        </p:spPr>
        <p:txBody>
          <a:bodyPr wrap="square" lIns="0" tIns="0" rIns="0" bIns="0" rtlCol="0" anchor="ctr"/>
          <a:lstStyle/>
          <a:p>
            <a:pPr indent="0" marL="0">
              <a:buNone/>
            </a:pPr>
            <a:r>
              <a:rPr lang="en-US" sz="1300" dirty="0">
                <a:solidFill>
                  <a:srgbClr val="00C2FF"/>
                </a:solidFill>
                <a:latin typeface="Arial" pitchFamily="34" charset="0"/>
                <a:ea typeface="Arial" pitchFamily="34" charset="-122"/>
                <a:cs typeface="Arial" pitchFamily="34" charset="-120"/>
              </a:rPr>
              <a:t>외부 방어벽 우회</a:t>
            </a:r>
            <a:endParaRPr lang="en-US" sz="1300" dirty="0"/>
          </a:p>
        </p:txBody>
      </p:sp>
      <p:sp>
        <p:nvSpPr>
          <p:cNvPr id="11" name="Text 9"/>
          <p:cNvSpPr/>
          <p:nvPr/>
        </p:nvSpPr>
        <p:spPr>
          <a:xfrm>
            <a:off x="777240" y="2953512"/>
            <a:ext cx="2286000" cy="292608"/>
          </a:xfrm>
          <a:prstGeom prst="rect">
            <a:avLst/>
          </a:prstGeom>
          <a:noFill/>
          <a:ln/>
        </p:spPr>
        <p:txBody>
          <a:bodyPr wrap="square" lIns="0" tIns="0" rIns="0" bIns="0" rtlCol="0" anchor="ctr"/>
          <a:lstStyle/>
          <a:p>
            <a:pPr indent="0" marL="0">
              <a:buNone/>
            </a:pPr>
            <a:r>
              <a:rPr lang="en-US" sz="1100" dirty="0">
                <a:solidFill>
                  <a:srgbClr val="8890B5"/>
                </a:solidFill>
                <a:latin typeface="Arial" pitchFamily="34" charset="0"/>
                <a:ea typeface="Arial" pitchFamily="34" charset="-122"/>
                <a:cs typeface="Arial" pitchFamily="34" charset="-120"/>
              </a:rPr>
              <a:t>네트워크 계층</a:t>
            </a:r>
            <a:endParaRPr lang="en-US" sz="1100" dirty="0"/>
          </a:p>
        </p:txBody>
      </p:sp>
      <p:sp>
        <p:nvSpPr>
          <p:cNvPr id="12" name="Shape 10"/>
          <p:cNvSpPr/>
          <p:nvPr/>
        </p:nvSpPr>
        <p:spPr>
          <a:xfrm>
            <a:off x="4722876" y="1965960"/>
            <a:ext cx="2743200" cy="1371600"/>
          </a:xfrm>
          <a:prstGeom prst="roundRect">
            <a:avLst>
              <a:gd name="adj" fmla="val 6667"/>
            </a:avLst>
          </a:prstGeom>
          <a:solidFill>
            <a:srgbClr val="16161B"/>
          </a:solidFill>
          <a:ln/>
          <a:effectLst>
            <a:outerShdw sx="100000" sy="100000" kx="0" ky="0" algn="bl" rotWithShape="0" blurRad="101600" dist="50800" dir="5400000">
              <a:srgbClr val="000000">
                <a:alpha val="45000"/>
              </a:srgbClr>
            </a:outerShdw>
          </a:effectLst>
        </p:spPr>
      </p:sp>
      <p:sp>
        <p:nvSpPr>
          <p:cNvPr id="13" name="Text 11"/>
          <p:cNvSpPr/>
          <p:nvPr/>
        </p:nvSpPr>
        <p:spPr>
          <a:xfrm>
            <a:off x="4951476" y="2167128"/>
            <a:ext cx="2286000" cy="365760"/>
          </a:xfrm>
          <a:prstGeom prst="rect">
            <a:avLst/>
          </a:prstGeom>
          <a:noFill/>
          <a:ln/>
        </p:spPr>
        <p:txBody>
          <a:bodyPr wrap="square" lIns="0" tIns="0" rIns="0" bIns="0" rtlCol="0" anchor="ctr"/>
          <a:lstStyle/>
          <a:p>
            <a:pPr indent="0" marL="0">
              <a:buNone/>
            </a:pPr>
            <a:r>
              <a:rPr lang="en-US" sz="1700" b="1" dirty="0">
                <a:solidFill>
                  <a:srgbClr val="F2F5FF"/>
                </a:solidFill>
                <a:latin typeface="Arial" pitchFamily="34" charset="0"/>
                <a:ea typeface="Arial" pitchFamily="34" charset="-122"/>
                <a:cs typeface="Arial" pitchFamily="34" charset="-120"/>
              </a:rPr>
              <a:t>WAS 로그</a:t>
            </a:r>
            <a:endParaRPr lang="en-US" sz="1700" dirty="0"/>
          </a:p>
        </p:txBody>
      </p:sp>
      <p:sp>
        <p:nvSpPr>
          <p:cNvPr id="14" name="Text 12"/>
          <p:cNvSpPr/>
          <p:nvPr/>
        </p:nvSpPr>
        <p:spPr>
          <a:xfrm>
            <a:off x="4951476" y="2569464"/>
            <a:ext cx="2286000" cy="365760"/>
          </a:xfrm>
          <a:prstGeom prst="rect">
            <a:avLst/>
          </a:prstGeom>
          <a:noFill/>
          <a:ln/>
        </p:spPr>
        <p:txBody>
          <a:bodyPr wrap="square" lIns="0" tIns="0" rIns="0" bIns="0" rtlCol="0" anchor="ctr"/>
          <a:lstStyle/>
          <a:p>
            <a:pPr indent="0" marL="0">
              <a:buNone/>
            </a:pPr>
            <a:r>
              <a:rPr lang="en-US" sz="1300" dirty="0">
                <a:solidFill>
                  <a:srgbClr val="00C2FF"/>
                </a:solidFill>
                <a:latin typeface="Arial" pitchFamily="34" charset="0"/>
                <a:ea typeface="Arial" pitchFamily="34" charset="-122"/>
                <a:cs typeface="Arial" pitchFamily="34" charset="-120"/>
              </a:rPr>
              <a:t>정찰성 요청 기록</a:t>
            </a:r>
            <a:endParaRPr lang="en-US" sz="1300" dirty="0"/>
          </a:p>
        </p:txBody>
      </p:sp>
      <p:sp>
        <p:nvSpPr>
          <p:cNvPr id="15" name="Text 13"/>
          <p:cNvSpPr/>
          <p:nvPr/>
        </p:nvSpPr>
        <p:spPr>
          <a:xfrm>
            <a:off x="4951476" y="2953512"/>
            <a:ext cx="2286000" cy="292608"/>
          </a:xfrm>
          <a:prstGeom prst="rect">
            <a:avLst/>
          </a:prstGeom>
          <a:noFill/>
          <a:ln/>
        </p:spPr>
        <p:txBody>
          <a:bodyPr wrap="square" lIns="0" tIns="0" rIns="0" bIns="0" rtlCol="0" anchor="ctr"/>
          <a:lstStyle/>
          <a:p>
            <a:pPr indent="0" marL="0">
              <a:buNone/>
            </a:pPr>
            <a:r>
              <a:rPr lang="en-US" sz="1100" dirty="0">
                <a:solidFill>
                  <a:srgbClr val="8890B5"/>
                </a:solidFill>
                <a:latin typeface="Arial" pitchFamily="34" charset="0"/>
                <a:ea typeface="Arial" pitchFamily="34" charset="-122"/>
                <a:cs typeface="Arial" pitchFamily="34" charset="-120"/>
              </a:rPr>
              <a:t>애플리케이션 계층</a:t>
            </a:r>
            <a:endParaRPr lang="en-US" sz="1100" dirty="0"/>
          </a:p>
        </p:txBody>
      </p:sp>
      <p:sp>
        <p:nvSpPr>
          <p:cNvPr id="16" name="Shape 14"/>
          <p:cNvSpPr/>
          <p:nvPr/>
        </p:nvSpPr>
        <p:spPr>
          <a:xfrm>
            <a:off x="8897112" y="1965960"/>
            <a:ext cx="2743200" cy="1371600"/>
          </a:xfrm>
          <a:prstGeom prst="roundRect">
            <a:avLst>
              <a:gd name="adj" fmla="val 6667"/>
            </a:avLst>
          </a:prstGeom>
          <a:solidFill>
            <a:srgbClr val="16161B"/>
          </a:solidFill>
          <a:ln/>
          <a:effectLst>
            <a:outerShdw sx="100000" sy="100000" kx="0" ky="0" algn="bl" rotWithShape="0" blurRad="101600" dist="50800" dir="5400000">
              <a:srgbClr val="000000">
                <a:alpha val="45000"/>
              </a:srgbClr>
            </a:outerShdw>
          </a:effectLst>
        </p:spPr>
      </p:sp>
      <p:sp>
        <p:nvSpPr>
          <p:cNvPr id="17" name="Text 15"/>
          <p:cNvSpPr/>
          <p:nvPr/>
        </p:nvSpPr>
        <p:spPr>
          <a:xfrm>
            <a:off x="9125712" y="2167128"/>
            <a:ext cx="2286000" cy="365760"/>
          </a:xfrm>
          <a:prstGeom prst="rect">
            <a:avLst/>
          </a:prstGeom>
          <a:noFill/>
          <a:ln/>
        </p:spPr>
        <p:txBody>
          <a:bodyPr wrap="square" lIns="0" tIns="0" rIns="0" bIns="0" rtlCol="0" anchor="ctr"/>
          <a:lstStyle/>
          <a:p>
            <a:pPr indent="0" marL="0">
              <a:buNone/>
            </a:pPr>
            <a:r>
              <a:rPr lang="en-US" sz="1700" b="1" dirty="0">
                <a:solidFill>
                  <a:srgbClr val="F2F5FF"/>
                </a:solidFill>
                <a:latin typeface="Arial" pitchFamily="34" charset="0"/>
                <a:ea typeface="Arial" pitchFamily="34" charset="-122"/>
                <a:cs typeface="Arial" pitchFamily="34" charset="-120"/>
              </a:rPr>
              <a:t>K8s Audit 로그</a:t>
            </a:r>
            <a:endParaRPr lang="en-US" sz="1700" dirty="0"/>
          </a:p>
        </p:txBody>
      </p:sp>
      <p:sp>
        <p:nvSpPr>
          <p:cNvPr id="18" name="Text 16"/>
          <p:cNvSpPr/>
          <p:nvPr/>
        </p:nvSpPr>
        <p:spPr>
          <a:xfrm>
            <a:off x="9125712" y="2569464"/>
            <a:ext cx="2286000" cy="365760"/>
          </a:xfrm>
          <a:prstGeom prst="rect">
            <a:avLst/>
          </a:prstGeom>
          <a:noFill/>
          <a:ln/>
        </p:spPr>
        <p:txBody>
          <a:bodyPr wrap="square" lIns="0" tIns="0" rIns="0" bIns="0" rtlCol="0" anchor="ctr"/>
          <a:lstStyle/>
          <a:p>
            <a:pPr indent="0" marL="0">
              <a:buNone/>
            </a:pPr>
            <a:r>
              <a:rPr lang="en-US" sz="1300" dirty="0">
                <a:solidFill>
                  <a:srgbClr val="00C2FF"/>
                </a:solidFill>
                <a:latin typeface="Arial" pitchFamily="34" charset="0"/>
                <a:ea typeface="Arial" pitchFamily="34" charset="-122"/>
                <a:cs typeface="Arial" pitchFamily="34" charset="-120"/>
              </a:rPr>
              <a:t>권한 상승 시도</a:t>
            </a:r>
            <a:endParaRPr lang="en-US" sz="1300" dirty="0"/>
          </a:p>
        </p:txBody>
      </p:sp>
      <p:sp>
        <p:nvSpPr>
          <p:cNvPr id="19" name="Text 17"/>
          <p:cNvSpPr/>
          <p:nvPr/>
        </p:nvSpPr>
        <p:spPr>
          <a:xfrm>
            <a:off x="9125712" y="2953512"/>
            <a:ext cx="2286000" cy="292608"/>
          </a:xfrm>
          <a:prstGeom prst="rect">
            <a:avLst/>
          </a:prstGeom>
          <a:noFill/>
          <a:ln/>
        </p:spPr>
        <p:txBody>
          <a:bodyPr wrap="square" lIns="0" tIns="0" rIns="0" bIns="0" rtlCol="0" anchor="ctr"/>
          <a:lstStyle/>
          <a:p>
            <a:pPr indent="0" marL="0">
              <a:buNone/>
            </a:pPr>
            <a:r>
              <a:rPr lang="en-US" sz="1100" dirty="0">
                <a:solidFill>
                  <a:srgbClr val="8890B5"/>
                </a:solidFill>
                <a:latin typeface="Arial" pitchFamily="34" charset="0"/>
                <a:ea typeface="Arial" pitchFamily="34" charset="-122"/>
                <a:cs typeface="Arial" pitchFamily="34" charset="-120"/>
              </a:rPr>
              <a:t>오케스트레이션 계층</a:t>
            </a:r>
            <a:endParaRPr lang="en-US" sz="1100" dirty="0"/>
          </a:p>
        </p:txBody>
      </p:sp>
      <p:pic>
        <p:nvPicPr>
          <p:cNvPr id="20" name="Image 0" descr="preencoded.png">    </p:cNvPr>
          <p:cNvPicPr>
            <a:picLocks noChangeAspect="1"/>
          </p:cNvPicPr>
          <p:nvPr/>
        </p:nvPicPr>
        <p:blipFill>
          <a:blip r:embed="rId1"/>
          <a:stretch>
            <a:fillRect/>
          </a:stretch>
        </p:blipFill>
        <p:spPr>
          <a:xfrm>
            <a:off x="3824478" y="2468880"/>
            <a:ext cx="365760" cy="365760"/>
          </a:xfrm>
          <a:prstGeom prst="rect">
            <a:avLst/>
          </a:prstGeom>
        </p:spPr>
      </p:pic>
      <p:pic>
        <p:nvPicPr>
          <p:cNvPr id="21" name="Image 1" descr="preencoded.png">    </p:cNvPr>
          <p:cNvPicPr>
            <a:picLocks noChangeAspect="1"/>
          </p:cNvPicPr>
          <p:nvPr/>
        </p:nvPicPr>
        <p:blipFill>
          <a:blip r:embed="rId2"/>
          <a:stretch>
            <a:fillRect/>
          </a:stretch>
        </p:blipFill>
        <p:spPr>
          <a:xfrm>
            <a:off x="7998714" y="2468880"/>
            <a:ext cx="365760" cy="365760"/>
          </a:xfrm>
          <a:prstGeom prst="rect">
            <a:avLst/>
          </a:prstGeom>
        </p:spPr>
      </p:pic>
      <p:sp>
        <p:nvSpPr>
          <p:cNvPr id="22" name="Text 18"/>
          <p:cNvSpPr/>
          <p:nvPr/>
        </p:nvSpPr>
        <p:spPr>
          <a:xfrm>
            <a:off x="548640" y="3611880"/>
            <a:ext cx="11091672" cy="365760"/>
          </a:xfrm>
          <a:prstGeom prst="rect">
            <a:avLst/>
          </a:prstGeom>
          <a:noFill/>
          <a:ln/>
        </p:spPr>
        <p:txBody>
          <a:bodyPr wrap="square" lIns="0" tIns="0" rIns="0" bIns="0" rtlCol="0" anchor="ctr"/>
          <a:lstStyle/>
          <a:p>
            <a:pPr algn="ctr" indent="0" marL="0">
              <a:buNone/>
            </a:pPr>
            <a:r>
              <a:rPr lang="en-US" sz="1500" i="1" dirty="0">
                <a:solidFill>
                  <a:srgbClr val="8890B5"/>
                </a:solidFill>
                <a:latin typeface="Arial" pitchFamily="34" charset="0"/>
                <a:ea typeface="Arial" pitchFamily="34" charset="-122"/>
                <a:cs typeface="Arial" pitchFamily="34" charset="-120"/>
              </a:rPr>
              <a:t>각자 다른 화면 · 파편화된 로그 = 보안 사각지대</a:t>
            </a:r>
            <a:endParaRPr lang="en-US" sz="1500" dirty="0"/>
          </a:p>
        </p:txBody>
      </p:sp>
      <p:sp>
        <p:nvSpPr>
          <p:cNvPr id="23" name="Shape 19"/>
          <p:cNvSpPr/>
          <p:nvPr/>
        </p:nvSpPr>
        <p:spPr>
          <a:xfrm>
            <a:off x="548640" y="4160520"/>
            <a:ext cx="2743200" cy="411480"/>
          </a:xfrm>
          <a:prstGeom prst="roundRect">
            <a:avLst>
              <a:gd name="adj" fmla="val 48889"/>
            </a:avLst>
          </a:prstGeom>
          <a:ln w="15875">
            <a:solidFill>
              <a:srgbClr val="00FFA6"/>
            </a:solidFill>
            <a:prstDash val="solid"/>
          </a:ln>
        </p:spPr>
      </p:sp>
      <p:sp>
        <p:nvSpPr>
          <p:cNvPr id="24" name="Text 20"/>
          <p:cNvSpPr/>
          <p:nvPr/>
        </p:nvSpPr>
        <p:spPr>
          <a:xfrm>
            <a:off x="548640" y="4160520"/>
            <a:ext cx="2743200" cy="411480"/>
          </a:xfrm>
          <a:prstGeom prst="rect">
            <a:avLst/>
          </a:prstGeom>
          <a:noFill/>
          <a:ln/>
        </p:spPr>
        <p:txBody>
          <a:bodyPr wrap="square" lIns="0" tIns="0" rIns="0" bIns="0" rtlCol="0" anchor="ctr"/>
          <a:lstStyle/>
          <a:p>
            <a:pPr algn="ctr" indent="0" marL="0">
              <a:buNone/>
            </a:pPr>
            <a:r>
              <a:rPr lang="en-US" sz="1300" b="1" dirty="0">
                <a:solidFill>
                  <a:srgbClr val="00FFA6"/>
                </a:solidFill>
                <a:latin typeface="Arial" pitchFamily="34" charset="0"/>
                <a:ea typeface="Arial" pitchFamily="34" charset="-122"/>
                <a:cs typeface="Arial" pitchFamily="34" charset="-120"/>
              </a:rPr>
              <a:t>로그 파편화</a:t>
            </a:r>
            <a:endParaRPr lang="en-US" sz="1300" dirty="0"/>
          </a:p>
        </p:txBody>
      </p:sp>
      <p:sp>
        <p:nvSpPr>
          <p:cNvPr id="25" name="Shape 21"/>
          <p:cNvSpPr/>
          <p:nvPr/>
        </p:nvSpPr>
        <p:spPr>
          <a:xfrm>
            <a:off x="4722876" y="4160520"/>
            <a:ext cx="2743200" cy="411480"/>
          </a:xfrm>
          <a:prstGeom prst="roundRect">
            <a:avLst>
              <a:gd name="adj" fmla="val 48889"/>
            </a:avLst>
          </a:prstGeom>
          <a:ln w="15875">
            <a:solidFill>
              <a:srgbClr val="00FFA6"/>
            </a:solidFill>
            <a:prstDash val="solid"/>
          </a:ln>
        </p:spPr>
      </p:sp>
      <p:sp>
        <p:nvSpPr>
          <p:cNvPr id="26" name="Text 22"/>
          <p:cNvSpPr/>
          <p:nvPr/>
        </p:nvSpPr>
        <p:spPr>
          <a:xfrm>
            <a:off x="4722876" y="4160520"/>
            <a:ext cx="2743200" cy="411480"/>
          </a:xfrm>
          <a:prstGeom prst="rect">
            <a:avLst/>
          </a:prstGeom>
          <a:noFill/>
          <a:ln/>
        </p:spPr>
        <p:txBody>
          <a:bodyPr wrap="square" lIns="0" tIns="0" rIns="0" bIns="0" rtlCol="0" anchor="ctr"/>
          <a:lstStyle/>
          <a:p>
            <a:pPr algn="ctr" indent="0" marL="0">
              <a:buNone/>
            </a:pPr>
            <a:r>
              <a:rPr lang="en-US" sz="1300" b="1" dirty="0">
                <a:solidFill>
                  <a:srgbClr val="00FFA6"/>
                </a:solidFill>
                <a:latin typeface="Arial" pitchFamily="34" charset="0"/>
                <a:ea typeface="Arial" pitchFamily="34" charset="-122"/>
                <a:cs typeface="Arial" pitchFamily="34" charset="-120"/>
              </a:rPr>
              <a:t>지연된 초동 대응</a:t>
            </a:r>
            <a:endParaRPr lang="en-US" sz="1300" dirty="0"/>
          </a:p>
        </p:txBody>
      </p:sp>
      <p:sp>
        <p:nvSpPr>
          <p:cNvPr id="27" name="Shape 23"/>
          <p:cNvSpPr/>
          <p:nvPr/>
        </p:nvSpPr>
        <p:spPr>
          <a:xfrm>
            <a:off x="8897112" y="4160520"/>
            <a:ext cx="2743200" cy="411480"/>
          </a:xfrm>
          <a:prstGeom prst="roundRect">
            <a:avLst>
              <a:gd name="adj" fmla="val 48889"/>
            </a:avLst>
          </a:prstGeom>
          <a:ln w="15875">
            <a:solidFill>
              <a:srgbClr val="00FFA6"/>
            </a:solidFill>
            <a:prstDash val="solid"/>
          </a:ln>
        </p:spPr>
      </p:sp>
      <p:sp>
        <p:nvSpPr>
          <p:cNvPr id="28" name="Text 24"/>
          <p:cNvSpPr/>
          <p:nvPr/>
        </p:nvSpPr>
        <p:spPr>
          <a:xfrm>
            <a:off x="8897112" y="4160520"/>
            <a:ext cx="2743200" cy="411480"/>
          </a:xfrm>
          <a:prstGeom prst="rect">
            <a:avLst/>
          </a:prstGeom>
          <a:noFill/>
          <a:ln/>
        </p:spPr>
        <p:txBody>
          <a:bodyPr wrap="square" lIns="0" tIns="0" rIns="0" bIns="0" rtlCol="0" anchor="ctr"/>
          <a:lstStyle/>
          <a:p>
            <a:pPr algn="ctr" indent="0" marL="0">
              <a:buNone/>
            </a:pPr>
            <a:r>
              <a:rPr lang="en-US" sz="1300" b="1" dirty="0">
                <a:solidFill>
                  <a:srgbClr val="00FFA6"/>
                </a:solidFill>
                <a:latin typeface="Arial" pitchFamily="34" charset="0"/>
                <a:ea typeface="Arial" pitchFamily="34" charset="-122"/>
                <a:cs typeface="Arial" pitchFamily="34" charset="-120"/>
              </a:rPr>
              <a:t>단일 계층 시야</a:t>
            </a:r>
            <a:endParaRPr lang="en-US" sz="1300" dirty="0"/>
          </a:p>
        </p:txBody>
      </p:sp>
      <p:sp>
        <p:nvSpPr>
          <p:cNvPr id="29" name="Shape 25"/>
          <p:cNvSpPr/>
          <p:nvPr/>
        </p:nvSpPr>
        <p:spPr>
          <a:xfrm>
            <a:off x="548640" y="4937760"/>
            <a:ext cx="11091672" cy="1234440"/>
          </a:xfrm>
          <a:prstGeom prst="roundRect">
            <a:avLst>
              <a:gd name="adj" fmla="val 8889"/>
            </a:avLst>
          </a:prstGeom>
          <a:solidFill>
            <a:srgbClr val="0D0D10"/>
          </a:solidFill>
          <a:ln/>
          <a:effectLst>
            <a:outerShdw sx="100000" sy="100000" kx="0" ky="0" algn="bl" rotWithShape="0" blurRad="101600" dist="50800" dir="5400000">
              <a:srgbClr val="000000">
                <a:alpha val="45000"/>
              </a:srgbClr>
            </a:outerShdw>
          </a:effectLst>
        </p:spPr>
      </p:sp>
      <p:sp>
        <p:nvSpPr>
          <p:cNvPr id="30" name="Text 26"/>
          <p:cNvSpPr/>
          <p:nvPr/>
        </p:nvSpPr>
        <p:spPr>
          <a:xfrm>
            <a:off x="914400" y="4937760"/>
            <a:ext cx="10360152" cy="1234440"/>
          </a:xfrm>
          <a:prstGeom prst="rect">
            <a:avLst/>
          </a:prstGeom>
          <a:noFill/>
          <a:ln/>
        </p:spPr>
        <p:txBody>
          <a:bodyPr wrap="square" lIns="0" tIns="0" rIns="0" bIns="0" rtlCol="0" anchor="ctr"/>
          <a:lstStyle/>
          <a:p>
            <a:pPr algn="ctr" indent="0" marL="0">
              <a:buNone/>
            </a:pPr>
            <a:r>
              <a:rPr lang="en-US" sz="2200" b="1" dirty="0">
                <a:solidFill>
                  <a:srgbClr val="FF1F4B"/>
                </a:solidFill>
                <a:latin typeface="Arial" pitchFamily="34" charset="0"/>
                <a:ea typeface="Arial" pitchFamily="34" charset="-122"/>
                <a:cs typeface="Arial" pitchFamily="34" charset="-120"/>
              </a:rPr>
              <a:t>동일 인물의 조직적인 단일 공격이라는 것을, 알아챌 수 있을까?</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48640" y="457200"/>
            <a:ext cx="2651760" cy="365760"/>
          </a:xfrm>
          <a:prstGeom prst="roundRect">
            <a:avLst>
              <a:gd name="adj" fmla="val 50000"/>
            </a:avLst>
          </a:prstGeom>
          <a:solidFill>
            <a:srgbClr val="16161B"/>
          </a:solidFill>
          <a:ln/>
        </p:spPr>
      </p:sp>
      <p:sp>
        <p:nvSpPr>
          <p:cNvPr id="3" name="Text 1"/>
          <p:cNvSpPr/>
          <p:nvPr/>
        </p:nvSpPr>
        <p:spPr>
          <a:xfrm>
            <a:off x="548640" y="457200"/>
            <a:ext cx="2651760" cy="365760"/>
          </a:xfrm>
          <a:prstGeom prst="rect">
            <a:avLst/>
          </a:prstGeom>
          <a:noFill/>
          <a:ln/>
        </p:spPr>
        <p:txBody>
          <a:bodyPr wrap="square" lIns="0" tIns="0" rIns="0" bIns="0" rtlCol="0" anchor="ctr"/>
          <a:lstStyle/>
          <a:p>
            <a:pPr algn="ctr" indent="0" marL="0">
              <a:buNone/>
            </a:pPr>
            <a:r>
              <a:rPr lang="en-US" sz="1200" b="1" dirty="0">
                <a:solidFill>
                  <a:srgbClr val="00FFA6"/>
                </a:solidFill>
                <a:latin typeface="Arial" pitchFamily="34" charset="0"/>
                <a:ea typeface="Arial" pitchFamily="34" charset="-122"/>
                <a:cs typeface="Arial" pitchFamily="34" charset="-120"/>
              </a:rPr>
              <a:t>02 · 서비스 소개</a:t>
            </a:r>
            <a:endParaRPr lang="en-US" sz="1200" dirty="0"/>
          </a:p>
        </p:txBody>
      </p:sp>
      <p:sp>
        <p:nvSpPr>
          <p:cNvPr id="4" name="Shape 2"/>
          <p:cNvSpPr/>
          <p:nvPr/>
        </p:nvSpPr>
        <p:spPr>
          <a:xfrm>
            <a:off x="9262872" y="457200"/>
            <a:ext cx="2377440" cy="365760"/>
          </a:xfrm>
          <a:prstGeom prst="roundRect">
            <a:avLst>
              <a:gd name="adj" fmla="val 50000"/>
            </a:avLst>
          </a:prstGeom>
          <a:solidFill>
            <a:srgbClr val="16161B"/>
          </a:solidFill>
          <a:ln/>
        </p:spPr>
      </p:sp>
      <p:sp>
        <p:nvSpPr>
          <p:cNvPr id="5" name="Text 3"/>
          <p:cNvSpPr/>
          <p:nvPr/>
        </p:nvSpPr>
        <p:spPr>
          <a:xfrm>
            <a:off x="9262872" y="457200"/>
            <a:ext cx="2377440" cy="365760"/>
          </a:xfrm>
          <a:prstGeom prst="rect">
            <a:avLst/>
          </a:prstGeom>
          <a:noFill/>
          <a:ln/>
        </p:spPr>
        <p:txBody>
          <a:bodyPr wrap="square" lIns="0" tIns="0" rIns="0" bIns="0" rtlCol="0" anchor="ctr"/>
          <a:lstStyle/>
          <a:p>
            <a:pPr algn="ctr" indent="0" marL="0">
              <a:buNone/>
            </a:pPr>
            <a:r>
              <a:rPr lang="en-US" sz="1100" dirty="0">
                <a:solidFill>
                  <a:srgbClr val="8890B5"/>
                </a:solidFill>
                <a:latin typeface="Courier New" pitchFamily="34" charset="0"/>
                <a:ea typeface="Courier New" pitchFamily="34" charset="-122"/>
                <a:cs typeface="Courier New" pitchFamily="34" charset="-120"/>
              </a:rPr>
              <a:t>00:40–01:40</a:t>
            </a:r>
            <a:endParaRPr lang="en-US" sz="1100" dirty="0"/>
          </a:p>
        </p:txBody>
      </p:sp>
      <p:sp>
        <p:nvSpPr>
          <p:cNvPr id="6" name="Text 4"/>
          <p:cNvSpPr/>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A6288"/>
                </a:solidFill>
                <a:latin typeface="Arial" pitchFamily="34" charset="0"/>
                <a:ea typeface="Arial" pitchFamily="34" charset="-122"/>
                <a:cs typeface="Arial" pitchFamily="34" charset="-120"/>
              </a:rPr>
              <a:t>3 / 8</a:t>
            </a:r>
            <a:endParaRPr lang="en-US" sz="1000" dirty="0"/>
          </a:p>
        </p:txBody>
      </p:sp>
      <p:sp>
        <p:nvSpPr>
          <p:cNvPr id="7" name="Text 5"/>
          <p:cNvSpPr/>
          <p:nvPr/>
        </p:nvSpPr>
        <p:spPr>
          <a:xfrm>
            <a:off x="548640" y="960120"/>
            <a:ext cx="11091672" cy="548640"/>
          </a:xfrm>
          <a:prstGeom prst="rect">
            <a:avLst/>
          </a:prstGeom>
          <a:noFill/>
          <a:ln/>
        </p:spPr>
        <p:txBody>
          <a:bodyPr wrap="square" lIns="0" tIns="0" rIns="0" bIns="0" rtlCol="0" anchor="ctr"/>
          <a:lstStyle/>
          <a:p>
            <a:pPr indent="0" marL="0">
              <a:buNone/>
            </a:pPr>
            <a:r>
              <a:rPr lang="en-US" sz="2800" b="1" dirty="0">
                <a:solidFill>
                  <a:srgbClr val="F2F5FF"/>
                </a:solidFill>
                <a:latin typeface="Arial" pitchFamily="34" charset="0"/>
                <a:ea typeface="Arial" pitchFamily="34" charset="-122"/>
                <a:cs typeface="Arial" pitchFamily="34" charset="-120"/>
              </a:rPr>
              <a:t>SENTINEL-OPS — 통합 보안 관찰 플랫폼</a:t>
            </a:r>
            <a:endParaRPr lang="en-US" sz="2800" dirty="0"/>
          </a:p>
        </p:txBody>
      </p:sp>
      <p:sp>
        <p:nvSpPr>
          <p:cNvPr id="8" name="Text 6"/>
          <p:cNvSpPr/>
          <p:nvPr/>
        </p:nvSpPr>
        <p:spPr>
          <a:xfrm>
            <a:off x="548640" y="1463040"/>
            <a:ext cx="11091672" cy="365760"/>
          </a:xfrm>
          <a:prstGeom prst="rect">
            <a:avLst/>
          </a:prstGeom>
          <a:noFill/>
          <a:ln/>
        </p:spPr>
        <p:txBody>
          <a:bodyPr wrap="square" lIns="0" tIns="0" rIns="0" bIns="0" rtlCol="0" anchor="ctr"/>
          <a:lstStyle/>
          <a:p>
            <a:pPr indent="0" marL="0">
              <a:buNone/>
            </a:pPr>
            <a:r>
              <a:rPr lang="en-US" sz="1500" dirty="0">
                <a:solidFill>
                  <a:srgbClr val="8890B5"/>
                </a:solidFill>
                <a:latin typeface="Arial" pitchFamily="34" charset="0"/>
                <a:ea typeface="Arial" pitchFamily="34" charset="-122"/>
                <a:cs typeface="Arial" pitchFamily="34" charset="-120"/>
              </a:rPr>
              <a:t>파편화된 인프라 로그를 유기적으로 조립합니다</a:t>
            </a:r>
            <a:endParaRPr lang="en-US" sz="1500" dirty="0"/>
          </a:p>
        </p:txBody>
      </p:sp>
      <p:sp>
        <p:nvSpPr>
          <p:cNvPr id="9" name="Shape 7"/>
          <p:cNvSpPr/>
          <p:nvPr/>
        </p:nvSpPr>
        <p:spPr>
          <a:xfrm>
            <a:off x="548640" y="2148840"/>
            <a:ext cx="52578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10" name="Shape 8"/>
          <p:cNvSpPr/>
          <p:nvPr/>
        </p:nvSpPr>
        <p:spPr>
          <a:xfrm>
            <a:off x="800100" y="2354580"/>
            <a:ext cx="685800" cy="68580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11" name="Image 0" descr="preencoded.png">    </p:cNvPr>
          <p:cNvPicPr>
            <a:picLocks noChangeAspect="1"/>
          </p:cNvPicPr>
          <p:nvPr/>
        </p:nvPicPr>
        <p:blipFill>
          <a:blip r:embed="rId1"/>
          <a:stretch>
            <a:fillRect/>
          </a:stretch>
        </p:blipFill>
        <p:spPr>
          <a:xfrm>
            <a:off x="971550" y="2526030"/>
            <a:ext cx="342900" cy="342900"/>
          </a:xfrm>
          <a:prstGeom prst="rect">
            <a:avLst/>
          </a:prstGeom>
        </p:spPr>
      </p:pic>
      <p:sp>
        <p:nvSpPr>
          <p:cNvPr id="12" name="Text 9"/>
          <p:cNvSpPr/>
          <p:nvPr/>
        </p:nvSpPr>
        <p:spPr>
          <a:xfrm>
            <a:off x="1600200" y="2404872"/>
            <a:ext cx="3977640" cy="548640"/>
          </a:xfrm>
          <a:prstGeom prst="rect">
            <a:avLst/>
          </a:prstGeom>
          <a:noFill/>
          <a:ln/>
        </p:spPr>
        <p:txBody>
          <a:bodyPr wrap="square" lIns="0" tIns="0" rIns="0" bIns="0" rtlCol="0" anchor="ctr"/>
          <a:lstStyle/>
          <a:p>
            <a:pPr indent="0" marL="0">
              <a:buNone/>
            </a:pPr>
            <a:r>
              <a:rPr lang="en-US" sz="1800" b="1" dirty="0">
                <a:solidFill>
                  <a:srgbClr val="F2F5FF"/>
                </a:solidFill>
                <a:latin typeface="Arial" pitchFamily="34" charset="0"/>
                <a:ea typeface="Arial" pitchFamily="34" charset="-122"/>
                <a:cs typeface="Arial" pitchFamily="34" charset="-120"/>
              </a:rPr>
              <a:t>통합 수집</a:t>
            </a:r>
            <a:endParaRPr lang="en-US" sz="1800" dirty="0"/>
          </a:p>
        </p:txBody>
      </p:sp>
      <p:sp>
        <p:nvSpPr>
          <p:cNvPr id="13" name="Text 10"/>
          <p:cNvSpPr/>
          <p:nvPr/>
        </p:nvSpPr>
        <p:spPr>
          <a:xfrm>
            <a:off x="868680" y="3200400"/>
            <a:ext cx="4617720" cy="640080"/>
          </a:xfrm>
          <a:prstGeom prst="rect">
            <a:avLst/>
          </a:prstGeom>
          <a:noFill/>
          <a:ln/>
        </p:spPr>
        <p:txBody>
          <a:bodyPr wrap="square" lIns="0" tIns="0" rIns="0" bIns="0" rtlCol="0" anchor="ctr"/>
          <a:lstStyle/>
          <a:p>
            <a:pPr indent="0" marL="0">
              <a:lnSpc>
                <a:spcPct val="115000"/>
              </a:lnSpc>
              <a:buNone/>
            </a:pPr>
            <a:r>
              <a:rPr lang="en-US" sz="1300" dirty="0">
                <a:solidFill>
                  <a:srgbClr val="8890B5"/>
                </a:solidFill>
                <a:latin typeface="Arial" pitchFamily="34" charset="0"/>
                <a:ea typeface="Arial" pitchFamily="34" charset="-122"/>
                <a:cs typeface="Arial" pitchFamily="34" charset="-120"/>
              </a:rPr>
              <a:t>WAF · WAS · K8s Audit · Falco, 4개 계층 로그 소스를 하나로 통합 수집합니다.</a:t>
            </a:r>
            <a:endParaRPr lang="en-US" sz="1300" dirty="0"/>
          </a:p>
        </p:txBody>
      </p:sp>
      <p:sp>
        <p:nvSpPr>
          <p:cNvPr id="14" name="Shape 11"/>
          <p:cNvSpPr/>
          <p:nvPr/>
        </p:nvSpPr>
        <p:spPr>
          <a:xfrm>
            <a:off x="6355080" y="2148840"/>
            <a:ext cx="52578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15" name="Shape 12"/>
          <p:cNvSpPr/>
          <p:nvPr/>
        </p:nvSpPr>
        <p:spPr>
          <a:xfrm>
            <a:off x="6606540" y="2354580"/>
            <a:ext cx="685800" cy="68580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16" name="Image 1" descr="preencoded.png">    </p:cNvPr>
          <p:cNvPicPr>
            <a:picLocks noChangeAspect="1"/>
          </p:cNvPicPr>
          <p:nvPr/>
        </p:nvPicPr>
        <p:blipFill>
          <a:blip r:embed="rId2"/>
          <a:stretch>
            <a:fillRect/>
          </a:stretch>
        </p:blipFill>
        <p:spPr>
          <a:xfrm>
            <a:off x="6777990" y="2526030"/>
            <a:ext cx="342900" cy="342900"/>
          </a:xfrm>
          <a:prstGeom prst="rect">
            <a:avLst/>
          </a:prstGeom>
        </p:spPr>
      </p:pic>
      <p:sp>
        <p:nvSpPr>
          <p:cNvPr id="17" name="Text 13"/>
          <p:cNvSpPr/>
          <p:nvPr/>
        </p:nvSpPr>
        <p:spPr>
          <a:xfrm>
            <a:off x="7406640" y="2404872"/>
            <a:ext cx="3977640" cy="548640"/>
          </a:xfrm>
          <a:prstGeom prst="rect">
            <a:avLst/>
          </a:prstGeom>
          <a:noFill/>
          <a:ln/>
        </p:spPr>
        <p:txBody>
          <a:bodyPr wrap="square" lIns="0" tIns="0" rIns="0" bIns="0" rtlCol="0" anchor="ctr"/>
          <a:lstStyle/>
          <a:p>
            <a:pPr indent="0" marL="0">
              <a:buNone/>
            </a:pPr>
            <a:r>
              <a:rPr lang="en-US" sz="1800" b="1" dirty="0">
                <a:solidFill>
                  <a:srgbClr val="F2F5FF"/>
                </a:solidFill>
                <a:latin typeface="Arial" pitchFamily="34" charset="0"/>
                <a:ea typeface="Arial" pitchFamily="34" charset="-122"/>
                <a:cs typeface="Arial" pitchFamily="34" charset="-120"/>
              </a:rPr>
              <a:t>자동 상관분석</a:t>
            </a:r>
            <a:endParaRPr lang="en-US" sz="1800" dirty="0"/>
          </a:p>
        </p:txBody>
      </p:sp>
      <p:sp>
        <p:nvSpPr>
          <p:cNvPr id="18" name="Text 14"/>
          <p:cNvSpPr/>
          <p:nvPr/>
        </p:nvSpPr>
        <p:spPr>
          <a:xfrm>
            <a:off x="6675120" y="3200400"/>
            <a:ext cx="4617720" cy="640080"/>
          </a:xfrm>
          <a:prstGeom prst="rect">
            <a:avLst/>
          </a:prstGeom>
          <a:noFill/>
          <a:ln/>
        </p:spPr>
        <p:txBody>
          <a:bodyPr wrap="square" lIns="0" tIns="0" rIns="0" bIns="0" rtlCol="0" anchor="ctr"/>
          <a:lstStyle/>
          <a:p>
            <a:pPr indent="0" marL="0">
              <a:lnSpc>
                <a:spcPct val="115000"/>
              </a:lnSpc>
              <a:buNone/>
            </a:pPr>
            <a:r>
              <a:rPr lang="en-US" sz="1300" dirty="0">
                <a:solidFill>
                  <a:srgbClr val="8890B5"/>
                </a:solidFill>
                <a:latin typeface="Arial" pitchFamily="34" charset="0"/>
                <a:ea typeface="Arial" pitchFamily="34" charset="-122"/>
                <a:cs typeface="Arial" pitchFamily="34" charset="-120"/>
              </a:rPr>
              <a:t>내장된 32개 시나리오로 흩어진 로그를 단일 인시던트로 자동 재구성합니다.</a:t>
            </a:r>
            <a:endParaRPr lang="en-US" sz="1300" dirty="0"/>
          </a:p>
        </p:txBody>
      </p:sp>
      <p:sp>
        <p:nvSpPr>
          <p:cNvPr id="19" name="Shape 15"/>
          <p:cNvSpPr/>
          <p:nvPr/>
        </p:nvSpPr>
        <p:spPr>
          <a:xfrm>
            <a:off x="548640" y="4343400"/>
            <a:ext cx="52578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20" name="Shape 16"/>
          <p:cNvSpPr/>
          <p:nvPr/>
        </p:nvSpPr>
        <p:spPr>
          <a:xfrm>
            <a:off x="800100" y="4549140"/>
            <a:ext cx="685800" cy="68580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21" name="Image 2" descr="preencoded.png">    </p:cNvPr>
          <p:cNvPicPr>
            <a:picLocks noChangeAspect="1"/>
          </p:cNvPicPr>
          <p:nvPr/>
        </p:nvPicPr>
        <p:blipFill>
          <a:blip r:embed="rId3"/>
          <a:stretch>
            <a:fillRect/>
          </a:stretch>
        </p:blipFill>
        <p:spPr>
          <a:xfrm>
            <a:off x="971550" y="4720590"/>
            <a:ext cx="342900" cy="342900"/>
          </a:xfrm>
          <a:prstGeom prst="rect">
            <a:avLst/>
          </a:prstGeom>
        </p:spPr>
      </p:pic>
      <p:sp>
        <p:nvSpPr>
          <p:cNvPr id="22" name="Text 17"/>
          <p:cNvSpPr/>
          <p:nvPr/>
        </p:nvSpPr>
        <p:spPr>
          <a:xfrm>
            <a:off x="1600200" y="4599432"/>
            <a:ext cx="3977640" cy="548640"/>
          </a:xfrm>
          <a:prstGeom prst="rect">
            <a:avLst/>
          </a:prstGeom>
          <a:noFill/>
          <a:ln/>
        </p:spPr>
        <p:txBody>
          <a:bodyPr wrap="square" lIns="0" tIns="0" rIns="0" bIns="0" rtlCol="0" anchor="ctr"/>
          <a:lstStyle/>
          <a:p>
            <a:pPr indent="0" marL="0">
              <a:buNone/>
            </a:pPr>
            <a:r>
              <a:rPr lang="en-US" sz="1800" b="1" dirty="0">
                <a:solidFill>
                  <a:srgbClr val="F2F5FF"/>
                </a:solidFill>
                <a:latin typeface="Arial" pitchFamily="34" charset="0"/>
                <a:ea typeface="Arial" pitchFamily="34" charset="-122"/>
                <a:cs typeface="Arial" pitchFamily="34" charset="-120"/>
              </a:rPr>
              <a:t>ATT&amp;CK 자동 태깅</a:t>
            </a:r>
            <a:endParaRPr lang="en-US" sz="1800" dirty="0"/>
          </a:p>
        </p:txBody>
      </p:sp>
      <p:sp>
        <p:nvSpPr>
          <p:cNvPr id="23" name="Text 18"/>
          <p:cNvSpPr/>
          <p:nvPr/>
        </p:nvSpPr>
        <p:spPr>
          <a:xfrm>
            <a:off x="868680" y="5394960"/>
            <a:ext cx="4617720" cy="640080"/>
          </a:xfrm>
          <a:prstGeom prst="rect">
            <a:avLst/>
          </a:prstGeom>
          <a:noFill/>
          <a:ln/>
        </p:spPr>
        <p:txBody>
          <a:bodyPr wrap="square" lIns="0" tIns="0" rIns="0" bIns="0" rtlCol="0" anchor="ctr"/>
          <a:lstStyle/>
          <a:p>
            <a:pPr indent="0" marL="0">
              <a:lnSpc>
                <a:spcPct val="115000"/>
              </a:lnSpc>
              <a:buNone/>
            </a:pPr>
            <a:r>
              <a:rPr lang="en-US" sz="1300" dirty="0">
                <a:solidFill>
                  <a:srgbClr val="8890B5"/>
                </a:solidFill>
                <a:latin typeface="Arial" pitchFamily="34" charset="0"/>
                <a:ea typeface="Arial" pitchFamily="34" charset="-122"/>
                <a:cs typeface="Arial" pitchFamily="34" charset="-120"/>
              </a:rPr>
              <a:t>탐지된 위협을 MITRE ATT&amp;CK 프레임워크에 맞춰 자동으로 태깅합니다.</a:t>
            </a:r>
            <a:endParaRPr lang="en-US" sz="1300" dirty="0"/>
          </a:p>
        </p:txBody>
      </p:sp>
      <p:sp>
        <p:nvSpPr>
          <p:cNvPr id="24" name="Shape 19"/>
          <p:cNvSpPr/>
          <p:nvPr/>
        </p:nvSpPr>
        <p:spPr>
          <a:xfrm>
            <a:off x="6355080" y="4343400"/>
            <a:ext cx="52578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25" name="Shape 20"/>
          <p:cNvSpPr/>
          <p:nvPr/>
        </p:nvSpPr>
        <p:spPr>
          <a:xfrm>
            <a:off x="6606540" y="4549140"/>
            <a:ext cx="685800" cy="68580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26" name="Image 3" descr="preencoded.png">    </p:cNvPr>
          <p:cNvPicPr>
            <a:picLocks noChangeAspect="1"/>
          </p:cNvPicPr>
          <p:nvPr/>
        </p:nvPicPr>
        <p:blipFill>
          <a:blip r:embed="rId4"/>
          <a:stretch>
            <a:fillRect/>
          </a:stretch>
        </p:blipFill>
        <p:spPr>
          <a:xfrm>
            <a:off x="6777990" y="4720590"/>
            <a:ext cx="342900" cy="342900"/>
          </a:xfrm>
          <a:prstGeom prst="rect">
            <a:avLst/>
          </a:prstGeom>
        </p:spPr>
      </p:pic>
      <p:sp>
        <p:nvSpPr>
          <p:cNvPr id="27" name="Text 21"/>
          <p:cNvSpPr/>
          <p:nvPr/>
        </p:nvSpPr>
        <p:spPr>
          <a:xfrm>
            <a:off x="7406640" y="4599432"/>
            <a:ext cx="3977640" cy="548640"/>
          </a:xfrm>
          <a:prstGeom prst="rect">
            <a:avLst/>
          </a:prstGeom>
          <a:noFill/>
          <a:ln/>
        </p:spPr>
        <p:txBody>
          <a:bodyPr wrap="square" lIns="0" tIns="0" rIns="0" bIns="0" rtlCol="0" anchor="ctr"/>
          <a:lstStyle/>
          <a:p>
            <a:pPr indent="0" marL="0">
              <a:buNone/>
            </a:pPr>
            <a:r>
              <a:rPr lang="en-US" sz="1800" b="1" dirty="0">
                <a:solidFill>
                  <a:srgbClr val="F2F5FF"/>
                </a:solidFill>
                <a:latin typeface="Arial" pitchFamily="34" charset="0"/>
                <a:ea typeface="Arial" pitchFamily="34" charset="-122"/>
                <a:cs typeface="Arial" pitchFamily="34" charset="-120"/>
              </a:rPr>
              <a:t>실시간 트리맵 시각화</a:t>
            </a:r>
            <a:endParaRPr lang="en-US" sz="1800" dirty="0"/>
          </a:p>
        </p:txBody>
      </p:sp>
      <p:sp>
        <p:nvSpPr>
          <p:cNvPr id="28" name="Text 22"/>
          <p:cNvSpPr/>
          <p:nvPr/>
        </p:nvSpPr>
        <p:spPr>
          <a:xfrm>
            <a:off x="6675120" y="5394960"/>
            <a:ext cx="4617720" cy="640080"/>
          </a:xfrm>
          <a:prstGeom prst="rect">
            <a:avLst/>
          </a:prstGeom>
          <a:noFill/>
          <a:ln/>
        </p:spPr>
        <p:txBody>
          <a:bodyPr wrap="square" lIns="0" tIns="0" rIns="0" bIns="0" rtlCol="0" anchor="ctr"/>
          <a:lstStyle/>
          <a:p>
            <a:pPr indent="0" marL="0">
              <a:lnSpc>
                <a:spcPct val="115000"/>
              </a:lnSpc>
              <a:buNone/>
            </a:pPr>
            <a:r>
              <a:rPr lang="en-US" sz="1300" dirty="0">
                <a:solidFill>
                  <a:srgbClr val="8890B5"/>
                </a:solidFill>
                <a:latin typeface="Arial" pitchFamily="34" charset="0"/>
                <a:ea typeface="Arial" pitchFamily="34" charset="-122"/>
                <a:cs typeface="Arial" pitchFamily="34" charset="-120"/>
              </a:rPr>
              <a:t>모든 침해 경로를 직관적인 실시간 트리 지도 대시보드로 시각화합니다.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48640" y="457200"/>
            <a:ext cx="2651760" cy="365760"/>
          </a:xfrm>
          <a:prstGeom prst="roundRect">
            <a:avLst>
              <a:gd name="adj" fmla="val 50000"/>
            </a:avLst>
          </a:prstGeom>
          <a:solidFill>
            <a:srgbClr val="16161B"/>
          </a:solidFill>
          <a:ln/>
        </p:spPr>
      </p:sp>
      <p:sp>
        <p:nvSpPr>
          <p:cNvPr id="3" name="Text 1"/>
          <p:cNvSpPr/>
          <p:nvPr/>
        </p:nvSpPr>
        <p:spPr>
          <a:xfrm>
            <a:off x="548640" y="457200"/>
            <a:ext cx="2651760" cy="365760"/>
          </a:xfrm>
          <a:prstGeom prst="rect">
            <a:avLst/>
          </a:prstGeom>
          <a:noFill/>
          <a:ln/>
        </p:spPr>
        <p:txBody>
          <a:bodyPr wrap="square" lIns="0" tIns="0" rIns="0" bIns="0" rtlCol="0" anchor="ctr"/>
          <a:lstStyle/>
          <a:p>
            <a:pPr algn="ctr" indent="0" marL="0">
              <a:buNone/>
            </a:pPr>
            <a:r>
              <a:rPr lang="en-US" sz="1200" b="1" dirty="0">
                <a:solidFill>
                  <a:srgbClr val="00FFA6"/>
                </a:solidFill>
                <a:latin typeface="Arial" pitchFamily="34" charset="0"/>
                <a:ea typeface="Arial" pitchFamily="34" charset="-122"/>
                <a:cs typeface="Arial" pitchFamily="34" charset="-120"/>
              </a:rPr>
              <a:t>03 · 데모 시연</a:t>
            </a:r>
            <a:endParaRPr lang="en-US" sz="1200" dirty="0"/>
          </a:p>
        </p:txBody>
      </p:sp>
      <p:sp>
        <p:nvSpPr>
          <p:cNvPr id="4" name="Shape 2"/>
          <p:cNvSpPr/>
          <p:nvPr/>
        </p:nvSpPr>
        <p:spPr>
          <a:xfrm>
            <a:off x="9262872" y="457200"/>
            <a:ext cx="2377440" cy="365760"/>
          </a:xfrm>
          <a:prstGeom prst="roundRect">
            <a:avLst>
              <a:gd name="adj" fmla="val 50000"/>
            </a:avLst>
          </a:prstGeom>
          <a:solidFill>
            <a:srgbClr val="16161B"/>
          </a:solidFill>
          <a:ln/>
        </p:spPr>
      </p:sp>
      <p:sp>
        <p:nvSpPr>
          <p:cNvPr id="5" name="Text 3"/>
          <p:cNvSpPr/>
          <p:nvPr/>
        </p:nvSpPr>
        <p:spPr>
          <a:xfrm>
            <a:off x="9262872" y="457200"/>
            <a:ext cx="2377440" cy="365760"/>
          </a:xfrm>
          <a:prstGeom prst="rect">
            <a:avLst/>
          </a:prstGeom>
          <a:noFill/>
          <a:ln/>
        </p:spPr>
        <p:txBody>
          <a:bodyPr wrap="square" lIns="0" tIns="0" rIns="0" bIns="0" rtlCol="0" anchor="ctr"/>
          <a:lstStyle/>
          <a:p>
            <a:pPr algn="ctr" indent="0" marL="0">
              <a:buNone/>
            </a:pPr>
            <a:r>
              <a:rPr lang="en-US" sz="1100" dirty="0">
                <a:solidFill>
                  <a:srgbClr val="8890B5"/>
                </a:solidFill>
                <a:latin typeface="Courier New" pitchFamily="34" charset="0"/>
                <a:ea typeface="Courier New" pitchFamily="34" charset="-122"/>
                <a:cs typeface="Courier New" pitchFamily="34" charset="-120"/>
              </a:rPr>
              <a:t>01:40–03:05</a:t>
            </a:r>
            <a:endParaRPr lang="en-US" sz="1100" dirty="0"/>
          </a:p>
        </p:txBody>
      </p:sp>
      <p:sp>
        <p:nvSpPr>
          <p:cNvPr id="6" name="Text 4"/>
          <p:cNvSpPr/>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A6288"/>
                </a:solidFill>
                <a:latin typeface="Arial" pitchFamily="34" charset="0"/>
                <a:ea typeface="Arial" pitchFamily="34" charset="-122"/>
                <a:cs typeface="Arial" pitchFamily="34" charset="-120"/>
              </a:rPr>
              <a:t>4 / 8</a:t>
            </a:r>
            <a:endParaRPr lang="en-US" sz="1000" dirty="0"/>
          </a:p>
        </p:txBody>
      </p:sp>
      <p:sp>
        <p:nvSpPr>
          <p:cNvPr id="7" name="Text 5"/>
          <p:cNvSpPr/>
          <p:nvPr/>
        </p:nvSpPr>
        <p:spPr>
          <a:xfrm>
            <a:off x="548640" y="914400"/>
            <a:ext cx="11091672" cy="548640"/>
          </a:xfrm>
          <a:prstGeom prst="rect">
            <a:avLst/>
          </a:prstGeom>
          <a:noFill/>
          <a:ln/>
        </p:spPr>
        <p:txBody>
          <a:bodyPr wrap="square" lIns="0" tIns="0" rIns="0" bIns="0" rtlCol="0" anchor="ctr"/>
          <a:lstStyle/>
          <a:p>
            <a:pPr indent="0" marL="0">
              <a:buNone/>
            </a:pPr>
            <a:r>
              <a:rPr lang="en-US" sz="2800" b="1" dirty="0">
                <a:solidFill>
                  <a:srgbClr val="F2F5FF"/>
                </a:solidFill>
                <a:latin typeface="Arial" pitchFamily="34" charset="0"/>
                <a:ea typeface="Arial" pitchFamily="34" charset="-122"/>
                <a:cs typeface="Arial" pitchFamily="34" charset="-120"/>
              </a:rPr>
              <a:t>데모: 통합 Overview &amp; 검색</a:t>
            </a:r>
            <a:endParaRPr lang="en-US" sz="2800" dirty="0"/>
          </a:p>
        </p:txBody>
      </p:sp>
      <p:sp>
        <p:nvSpPr>
          <p:cNvPr id="8" name="Shape 6"/>
          <p:cNvSpPr/>
          <p:nvPr/>
        </p:nvSpPr>
        <p:spPr>
          <a:xfrm>
            <a:off x="548640" y="1600200"/>
            <a:ext cx="6675120" cy="4572000"/>
          </a:xfrm>
          <a:prstGeom prst="roundRect">
            <a:avLst>
              <a:gd name="adj" fmla="val 2400"/>
            </a:avLst>
          </a:prstGeom>
          <a:solidFill>
            <a:srgbClr val="16161B"/>
          </a:solidFill>
          <a:ln/>
          <a:effectLst>
            <a:outerShdw sx="100000" sy="100000" kx="0" ky="0" algn="bl" rotWithShape="0" blurRad="101600" dist="50800" dir="5400000">
              <a:srgbClr val="000000">
                <a:alpha val="45000"/>
              </a:srgbClr>
            </a:outerShdw>
          </a:effectLst>
        </p:spPr>
      </p:sp>
      <p:sp>
        <p:nvSpPr>
          <p:cNvPr id="9" name="Text 7"/>
          <p:cNvSpPr/>
          <p:nvPr/>
        </p:nvSpPr>
        <p:spPr>
          <a:xfrm>
            <a:off x="868680" y="1874520"/>
            <a:ext cx="6035040" cy="365760"/>
          </a:xfrm>
          <a:prstGeom prst="rect">
            <a:avLst/>
          </a:prstGeom>
          <a:noFill/>
          <a:ln/>
        </p:spPr>
        <p:txBody>
          <a:bodyPr wrap="square" lIns="0" tIns="0" rIns="0" bIns="0" rtlCol="0" anchor="ctr"/>
          <a:lstStyle/>
          <a:p>
            <a:pPr indent="0" marL="0">
              <a:buNone/>
            </a:pPr>
            <a:r>
              <a:rPr lang="en-US" sz="1400" b="1" dirty="0">
                <a:solidFill>
                  <a:srgbClr val="00FFA6"/>
                </a:solidFill>
                <a:latin typeface="Courier New" pitchFamily="34" charset="0"/>
                <a:ea typeface="Courier New" pitchFamily="34" charset="-122"/>
                <a:cs typeface="Courier New" pitchFamily="34" charset="-120"/>
              </a:rPr>
              <a:t>▶  DEMO VIDEO</a:t>
            </a:r>
            <a:endParaRPr lang="en-US" sz="1400" dirty="0"/>
          </a:p>
        </p:txBody>
      </p:sp>
      <p:sp>
        <p:nvSpPr>
          <p:cNvPr id="10" name="Shape 8"/>
          <p:cNvSpPr/>
          <p:nvPr/>
        </p:nvSpPr>
        <p:spPr>
          <a:xfrm rot="5400000">
            <a:off x="3520440" y="3429000"/>
            <a:ext cx="731520" cy="914400"/>
          </a:xfrm>
          <a:prstGeom prst="triangle">
            <a:avLst/>
          </a:prstGeom>
          <a:solidFill>
            <a:srgbClr val="00FFA6">
              <a:alpha val="80000"/>
            </a:srgbClr>
          </a:solidFill>
          <a:ln/>
        </p:spPr>
      </p:sp>
      <p:sp>
        <p:nvSpPr>
          <p:cNvPr id="11" name="Text 9"/>
          <p:cNvSpPr/>
          <p:nvPr/>
        </p:nvSpPr>
        <p:spPr>
          <a:xfrm>
            <a:off x="868680" y="5669280"/>
            <a:ext cx="6035040" cy="320040"/>
          </a:xfrm>
          <a:prstGeom prst="rect">
            <a:avLst/>
          </a:prstGeom>
          <a:noFill/>
          <a:ln/>
        </p:spPr>
        <p:txBody>
          <a:bodyPr wrap="square" lIns="0" tIns="0" rIns="0" bIns="0" rtlCol="0" anchor="ctr"/>
          <a:lstStyle/>
          <a:p>
            <a:pPr indent="0" marL="0">
              <a:buNone/>
            </a:pPr>
            <a:r>
              <a:rPr lang="en-US" sz="1100" i="1" dirty="0">
                <a:solidFill>
                  <a:srgbClr val="5A6288"/>
                </a:solidFill>
                <a:latin typeface="Arial" pitchFamily="34" charset="0"/>
                <a:ea typeface="Arial" pitchFamily="34" charset="-122"/>
                <a:cs typeface="Arial" pitchFamily="34" charset="-120"/>
              </a:rPr>
              <a:t>Overview &amp; 검색 데모 클립을 이 자리에 삽입</a:t>
            </a:r>
            <a:endParaRPr lang="en-US" sz="1100" dirty="0"/>
          </a:p>
        </p:txBody>
      </p:sp>
      <p:sp>
        <p:nvSpPr>
          <p:cNvPr id="12" name="Shape 10"/>
          <p:cNvSpPr/>
          <p:nvPr/>
        </p:nvSpPr>
        <p:spPr>
          <a:xfrm>
            <a:off x="7498080" y="1737360"/>
            <a:ext cx="914400" cy="384048"/>
          </a:xfrm>
          <a:prstGeom prst="roundRect">
            <a:avLst>
              <a:gd name="adj" fmla="val 19048"/>
            </a:avLst>
          </a:prstGeom>
          <a:solidFill>
            <a:srgbClr val="16161B"/>
          </a:solidFill>
          <a:ln/>
        </p:spPr>
      </p:sp>
      <p:sp>
        <p:nvSpPr>
          <p:cNvPr id="13" name="Text 11"/>
          <p:cNvSpPr/>
          <p:nvPr/>
        </p:nvSpPr>
        <p:spPr>
          <a:xfrm>
            <a:off x="7498080" y="1737360"/>
            <a:ext cx="914400" cy="384048"/>
          </a:xfrm>
          <a:prstGeom prst="rect">
            <a:avLst/>
          </a:prstGeom>
          <a:noFill/>
          <a:ln/>
        </p:spPr>
        <p:txBody>
          <a:bodyPr wrap="square" lIns="0" tIns="0" rIns="0" bIns="0" rtlCol="0" anchor="ctr"/>
          <a:lstStyle/>
          <a:p>
            <a:pPr algn="ctr" indent="0" marL="0">
              <a:buNone/>
            </a:pPr>
            <a:r>
              <a:rPr lang="en-US" sz="1200" b="1" dirty="0">
                <a:solidFill>
                  <a:srgbClr val="00FFA6"/>
                </a:solidFill>
                <a:latin typeface="Courier New" pitchFamily="34" charset="0"/>
                <a:ea typeface="Courier New" pitchFamily="34" charset="-122"/>
                <a:cs typeface="Courier New" pitchFamily="34" charset="-120"/>
              </a:rPr>
              <a:t>0:00</a:t>
            </a:r>
            <a:endParaRPr lang="en-US" sz="1200" dirty="0"/>
          </a:p>
        </p:txBody>
      </p:sp>
      <p:sp>
        <p:nvSpPr>
          <p:cNvPr id="14" name="Text 12"/>
          <p:cNvSpPr/>
          <p:nvPr/>
        </p:nvSpPr>
        <p:spPr>
          <a:xfrm>
            <a:off x="8549640" y="1737360"/>
            <a:ext cx="3090672" cy="384048"/>
          </a:xfrm>
          <a:prstGeom prst="rect">
            <a:avLst/>
          </a:prstGeom>
          <a:noFill/>
          <a:ln/>
        </p:spPr>
        <p:txBody>
          <a:bodyPr wrap="square" lIns="0" tIns="0" rIns="0" bIns="0" rtlCol="0" anchor="ctr"/>
          <a:lstStyle/>
          <a:p>
            <a:pPr indent="0" marL="0">
              <a:buNone/>
            </a:pPr>
            <a:r>
              <a:rPr lang="en-US" sz="1300" dirty="0">
                <a:solidFill>
                  <a:srgbClr val="F2F5FF"/>
                </a:solidFill>
                <a:latin typeface="Arial" pitchFamily="34" charset="0"/>
                <a:ea typeface="Arial" pitchFamily="34" charset="-122"/>
                <a:cs typeface="Arial" pitchFamily="34" charset="-120"/>
              </a:rPr>
              <a:t>실시간 2초 폴링으로 갱신되는 핵심 KPI</a:t>
            </a:r>
            <a:endParaRPr lang="en-US" sz="1300" dirty="0"/>
          </a:p>
        </p:txBody>
      </p:sp>
      <p:sp>
        <p:nvSpPr>
          <p:cNvPr id="15" name="Shape 13"/>
          <p:cNvSpPr/>
          <p:nvPr/>
        </p:nvSpPr>
        <p:spPr>
          <a:xfrm>
            <a:off x="7498080" y="2788920"/>
            <a:ext cx="914400" cy="384048"/>
          </a:xfrm>
          <a:prstGeom prst="roundRect">
            <a:avLst>
              <a:gd name="adj" fmla="val 19048"/>
            </a:avLst>
          </a:prstGeom>
          <a:solidFill>
            <a:srgbClr val="16161B"/>
          </a:solidFill>
          <a:ln/>
        </p:spPr>
      </p:sp>
      <p:sp>
        <p:nvSpPr>
          <p:cNvPr id="16" name="Text 14"/>
          <p:cNvSpPr/>
          <p:nvPr/>
        </p:nvSpPr>
        <p:spPr>
          <a:xfrm>
            <a:off x="7498080" y="2788920"/>
            <a:ext cx="914400" cy="384048"/>
          </a:xfrm>
          <a:prstGeom prst="rect">
            <a:avLst/>
          </a:prstGeom>
          <a:noFill/>
          <a:ln/>
        </p:spPr>
        <p:txBody>
          <a:bodyPr wrap="square" lIns="0" tIns="0" rIns="0" bIns="0" rtlCol="0" anchor="ctr"/>
          <a:lstStyle/>
          <a:p>
            <a:pPr algn="ctr" indent="0" marL="0">
              <a:buNone/>
            </a:pPr>
            <a:r>
              <a:rPr lang="en-US" sz="1200" b="1" dirty="0">
                <a:solidFill>
                  <a:srgbClr val="00FFA6"/>
                </a:solidFill>
                <a:latin typeface="Courier New" pitchFamily="34" charset="0"/>
                <a:ea typeface="Courier New" pitchFamily="34" charset="-122"/>
                <a:cs typeface="Courier New" pitchFamily="34" charset="-120"/>
              </a:rPr>
              <a:t>0:15</a:t>
            </a:r>
            <a:endParaRPr lang="en-US" sz="1200" dirty="0"/>
          </a:p>
        </p:txBody>
      </p:sp>
      <p:sp>
        <p:nvSpPr>
          <p:cNvPr id="17" name="Text 15"/>
          <p:cNvSpPr/>
          <p:nvPr/>
        </p:nvSpPr>
        <p:spPr>
          <a:xfrm>
            <a:off x="8549640" y="2788920"/>
            <a:ext cx="3090672" cy="384048"/>
          </a:xfrm>
          <a:prstGeom prst="rect">
            <a:avLst/>
          </a:prstGeom>
          <a:noFill/>
          <a:ln/>
        </p:spPr>
        <p:txBody>
          <a:bodyPr wrap="square" lIns="0" tIns="0" rIns="0" bIns="0" rtlCol="0" anchor="ctr"/>
          <a:lstStyle/>
          <a:p>
            <a:pPr indent="0" marL="0">
              <a:buNone/>
            </a:pPr>
            <a:r>
              <a:rPr lang="en-US" sz="1300" dirty="0">
                <a:solidFill>
                  <a:srgbClr val="F2F5FF"/>
                </a:solidFill>
                <a:latin typeface="Arial" pitchFamily="34" charset="0"/>
                <a:ea typeface="Arial" pitchFamily="34" charset="-122"/>
                <a:cs typeface="Arial" pitchFamily="34" charset="-120"/>
              </a:rPr>
              <a:t>Log Volume 23시 구간 이상 급증 확인</a:t>
            </a:r>
            <a:endParaRPr lang="en-US" sz="1300" dirty="0"/>
          </a:p>
        </p:txBody>
      </p:sp>
      <p:sp>
        <p:nvSpPr>
          <p:cNvPr id="18" name="Shape 16"/>
          <p:cNvSpPr/>
          <p:nvPr/>
        </p:nvSpPr>
        <p:spPr>
          <a:xfrm>
            <a:off x="7498080" y="3840480"/>
            <a:ext cx="914400" cy="384048"/>
          </a:xfrm>
          <a:prstGeom prst="roundRect">
            <a:avLst>
              <a:gd name="adj" fmla="val 19048"/>
            </a:avLst>
          </a:prstGeom>
          <a:solidFill>
            <a:srgbClr val="16161B"/>
          </a:solidFill>
          <a:ln/>
        </p:spPr>
      </p:sp>
      <p:sp>
        <p:nvSpPr>
          <p:cNvPr id="19" name="Text 17"/>
          <p:cNvSpPr/>
          <p:nvPr/>
        </p:nvSpPr>
        <p:spPr>
          <a:xfrm>
            <a:off x="7498080" y="3840480"/>
            <a:ext cx="914400" cy="384048"/>
          </a:xfrm>
          <a:prstGeom prst="rect">
            <a:avLst/>
          </a:prstGeom>
          <a:noFill/>
          <a:ln/>
        </p:spPr>
        <p:txBody>
          <a:bodyPr wrap="square" lIns="0" tIns="0" rIns="0" bIns="0" rtlCol="0" anchor="ctr"/>
          <a:lstStyle/>
          <a:p>
            <a:pPr algn="ctr" indent="0" marL="0">
              <a:buNone/>
            </a:pPr>
            <a:r>
              <a:rPr lang="en-US" sz="1200" b="1" dirty="0">
                <a:solidFill>
                  <a:srgbClr val="00FFA6"/>
                </a:solidFill>
                <a:latin typeface="Courier New" pitchFamily="34" charset="0"/>
                <a:ea typeface="Courier New" pitchFamily="34" charset="-122"/>
                <a:cs typeface="Courier New" pitchFamily="34" charset="-120"/>
              </a:rPr>
              <a:t>0:35</a:t>
            </a:r>
            <a:endParaRPr lang="en-US" sz="1200" dirty="0"/>
          </a:p>
        </p:txBody>
      </p:sp>
      <p:sp>
        <p:nvSpPr>
          <p:cNvPr id="20" name="Text 18"/>
          <p:cNvSpPr/>
          <p:nvPr/>
        </p:nvSpPr>
        <p:spPr>
          <a:xfrm>
            <a:off x="8549640" y="3840480"/>
            <a:ext cx="3090672" cy="384048"/>
          </a:xfrm>
          <a:prstGeom prst="rect">
            <a:avLst/>
          </a:prstGeom>
          <a:noFill/>
          <a:ln/>
        </p:spPr>
        <p:txBody>
          <a:bodyPr wrap="square" lIns="0" tIns="0" rIns="0" bIns="0" rtlCol="0" anchor="ctr"/>
          <a:lstStyle/>
          <a:p>
            <a:pPr indent="0" marL="0">
              <a:buNone/>
            </a:pPr>
            <a:r>
              <a:rPr lang="en-US" sz="1300" dirty="0">
                <a:solidFill>
                  <a:srgbClr val="F2F5FF"/>
                </a:solidFill>
                <a:latin typeface="Arial" pitchFamily="34" charset="0"/>
                <a:ea typeface="Arial" pitchFamily="34" charset="-122"/>
                <a:cs typeface="Arial" pitchFamily="34" charset="-120"/>
              </a:rPr>
              <a:t>3개 소스가 결합된 인시던트 목록</a:t>
            </a:r>
            <a:endParaRPr lang="en-US" sz="1300" dirty="0"/>
          </a:p>
        </p:txBody>
      </p:sp>
      <p:sp>
        <p:nvSpPr>
          <p:cNvPr id="21" name="Shape 19"/>
          <p:cNvSpPr/>
          <p:nvPr/>
        </p:nvSpPr>
        <p:spPr>
          <a:xfrm>
            <a:off x="7498080" y="4892040"/>
            <a:ext cx="914400" cy="384048"/>
          </a:xfrm>
          <a:prstGeom prst="roundRect">
            <a:avLst>
              <a:gd name="adj" fmla="val 19048"/>
            </a:avLst>
          </a:prstGeom>
          <a:solidFill>
            <a:srgbClr val="16161B"/>
          </a:solidFill>
          <a:ln/>
        </p:spPr>
      </p:sp>
      <p:sp>
        <p:nvSpPr>
          <p:cNvPr id="22" name="Text 20"/>
          <p:cNvSpPr/>
          <p:nvPr/>
        </p:nvSpPr>
        <p:spPr>
          <a:xfrm>
            <a:off x="7498080" y="4892040"/>
            <a:ext cx="914400" cy="384048"/>
          </a:xfrm>
          <a:prstGeom prst="rect">
            <a:avLst/>
          </a:prstGeom>
          <a:noFill/>
          <a:ln/>
        </p:spPr>
        <p:txBody>
          <a:bodyPr wrap="square" lIns="0" tIns="0" rIns="0" bIns="0" rtlCol="0" anchor="ctr"/>
          <a:lstStyle/>
          <a:p>
            <a:pPr algn="ctr" indent="0" marL="0">
              <a:buNone/>
            </a:pPr>
            <a:r>
              <a:rPr lang="en-US" sz="1200" b="1" dirty="0">
                <a:solidFill>
                  <a:srgbClr val="00FFA6"/>
                </a:solidFill>
                <a:latin typeface="Courier New" pitchFamily="34" charset="0"/>
                <a:ea typeface="Courier New" pitchFamily="34" charset="-122"/>
                <a:cs typeface="Courier New" pitchFamily="34" charset="-120"/>
              </a:rPr>
              <a:t>0:55</a:t>
            </a:r>
            <a:endParaRPr lang="en-US" sz="1200" dirty="0"/>
          </a:p>
        </p:txBody>
      </p:sp>
      <p:sp>
        <p:nvSpPr>
          <p:cNvPr id="23" name="Text 21"/>
          <p:cNvSpPr/>
          <p:nvPr/>
        </p:nvSpPr>
        <p:spPr>
          <a:xfrm>
            <a:off x="8549640" y="4892040"/>
            <a:ext cx="2587752" cy="384048"/>
          </a:xfrm>
          <a:prstGeom prst="rect">
            <a:avLst/>
          </a:prstGeom>
          <a:noFill/>
          <a:ln/>
        </p:spPr>
        <p:txBody>
          <a:bodyPr wrap="square" lIns="0" tIns="0" rIns="0" bIns="0" rtlCol="0" anchor="ctr"/>
          <a:lstStyle/>
          <a:p>
            <a:pPr indent="0" marL="0">
              <a:buNone/>
            </a:pPr>
            <a:r>
              <a:rPr lang="en-US" sz="1300" dirty="0">
                <a:solidFill>
                  <a:srgbClr val="F2F5FF"/>
                </a:solidFill>
                <a:latin typeface="Arial" pitchFamily="34" charset="0"/>
                <a:ea typeface="Arial" pitchFamily="34" charset="-122"/>
                <a:cs typeface="Arial" pitchFamily="34" charset="-120"/>
              </a:rPr>
              <a:t>네임스페이스 · Critical 필터링</a:t>
            </a:r>
            <a:endParaRPr lang="en-US" sz="1300" dirty="0"/>
          </a:p>
        </p:txBody>
      </p:sp>
      <p:pic>
        <p:nvPicPr>
          <p:cNvPr id="24" name="Image 0" descr="preencoded.png">    </p:cNvPr>
          <p:cNvPicPr>
            <a:picLocks noChangeAspect="1"/>
          </p:cNvPicPr>
          <p:nvPr/>
        </p:nvPicPr>
        <p:blipFill>
          <a:blip r:embed="rId1"/>
          <a:stretch>
            <a:fillRect/>
          </a:stretch>
        </p:blipFill>
        <p:spPr>
          <a:xfrm>
            <a:off x="11274552" y="4910328"/>
            <a:ext cx="347472" cy="3474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48640" y="457200"/>
            <a:ext cx="2651760" cy="365760"/>
          </a:xfrm>
          <a:prstGeom prst="roundRect">
            <a:avLst>
              <a:gd name="adj" fmla="val 50000"/>
            </a:avLst>
          </a:prstGeom>
          <a:solidFill>
            <a:srgbClr val="16161B"/>
          </a:solidFill>
          <a:ln/>
        </p:spPr>
      </p:sp>
      <p:sp>
        <p:nvSpPr>
          <p:cNvPr id="3" name="Text 1"/>
          <p:cNvSpPr/>
          <p:nvPr/>
        </p:nvSpPr>
        <p:spPr>
          <a:xfrm>
            <a:off x="548640" y="457200"/>
            <a:ext cx="2651760" cy="365760"/>
          </a:xfrm>
          <a:prstGeom prst="rect">
            <a:avLst/>
          </a:prstGeom>
          <a:noFill/>
          <a:ln/>
        </p:spPr>
        <p:txBody>
          <a:bodyPr wrap="square" lIns="0" tIns="0" rIns="0" bIns="0" rtlCol="0" anchor="ctr"/>
          <a:lstStyle/>
          <a:p>
            <a:pPr algn="ctr" indent="0" marL="0">
              <a:buNone/>
            </a:pPr>
            <a:r>
              <a:rPr lang="en-US" sz="1200" b="1" dirty="0">
                <a:solidFill>
                  <a:srgbClr val="00FFA6"/>
                </a:solidFill>
                <a:latin typeface="Arial" pitchFamily="34" charset="0"/>
                <a:ea typeface="Arial" pitchFamily="34" charset="-122"/>
                <a:cs typeface="Arial" pitchFamily="34" charset="-120"/>
              </a:rPr>
              <a:t>03 · 데모 시연</a:t>
            </a:r>
            <a:endParaRPr lang="en-US" sz="1200" dirty="0"/>
          </a:p>
        </p:txBody>
      </p:sp>
      <p:sp>
        <p:nvSpPr>
          <p:cNvPr id="4" name="Shape 2"/>
          <p:cNvSpPr/>
          <p:nvPr/>
        </p:nvSpPr>
        <p:spPr>
          <a:xfrm>
            <a:off x="9262872" y="457200"/>
            <a:ext cx="2377440" cy="365760"/>
          </a:xfrm>
          <a:prstGeom prst="roundRect">
            <a:avLst>
              <a:gd name="adj" fmla="val 50000"/>
            </a:avLst>
          </a:prstGeom>
          <a:solidFill>
            <a:srgbClr val="16161B"/>
          </a:solidFill>
          <a:ln/>
        </p:spPr>
      </p:sp>
      <p:sp>
        <p:nvSpPr>
          <p:cNvPr id="5" name="Text 3"/>
          <p:cNvSpPr/>
          <p:nvPr/>
        </p:nvSpPr>
        <p:spPr>
          <a:xfrm>
            <a:off x="9262872" y="457200"/>
            <a:ext cx="2377440" cy="365760"/>
          </a:xfrm>
          <a:prstGeom prst="rect">
            <a:avLst/>
          </a:prstGeom>
          <a:noFill/>
          <a:ln/>
        </p:spPr>
        <p:txBody>
          <a:bodyPr wrap="square" lIns="0" tIns="0" rIns="0" bIns="0" rtlCol="0" anchor="ctr"/>
          <a:lstStyle/>
          <a:p>
            <a:pPr algn="ctr" indent="0" marL="0">
              <a:buNone/>
            </a:pPr>
            <a:r>
              <a:rPr lang="en-US" sz="1100" dirty="0">
                <a:solidFill>
                  <a:srgbClr val="8890B5"/>
                </a:solidFill>
                <a:latin typeface="Courier New" pitchFamily="34" charset="0"/>
                <a:ea typeface="Courier New" pitchFamily="34" charset="-122"/>
                <a:cs typeface="Courier New" pitchFamily="34" charset="-120"/>
              </a:rPr>
              <a:t>03:05–04:30</a:t>
            </a:r>
            <a:endParaRPr lang="en-US" sz="1100" dirty="0"/>
          </a:p>
        </p:txBody>
      </p:sp>
      <p:sp>
        <p:nvSpPr>
          <p:cNvPr id="6" name="Text 4"/>
          <p:cNvSpPr/>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A6288"/>
                </a:solidFill>
                <a:latin typeface="Arial" pitchFamily="34" charset="0"/>
                <a:ea typeface="Arial" pitchFamily="34" charset="-122"/>
                <a:cs typeface="Arial" pitchFamily="34" charset="-120"/>
              </a:rPr>
              <a:t>5 / 8</a:t>
            </a:r>
            <a:endParaRPr lang="en-US" sz="1000" dirty="0"/>
          </a:p>
        </p:txBody>
      </p:sp>
      <p:sp>
        <p:nvSpPr>
          <p:cNvPr id="7" name="Text 5"/>
          <p:cNvSpPr/>
          <p:nvPr/>
        </p:nvSpPr>
        <p:spPr>
          <a:xfrm>
            <a:off x="548640" y="914400"/>
            <a:ext cx="11091672" cy="548640"/>
          </a:xfrm>
          <a:prstGeom prst="rect">
            <a:avLst/>
          </a:prstGeom>
          <a:noFill/>
          <a:ln/>
        </p:spPr>
        <p:txBody>
          <a:bodyPr wrap="square" lIns="0" tIns="0" rIns="0" bIns="0" rtlCol="0" anchor="ctr"/>
          <a:lstStyle/>
          <a:p>
            <a:pPr indent="0" marL="0">
              <a:buNone/>
            </a:pPr>
            <a:r>
              <a:rPr lang="en-US" sz="2500" b="1" dirty="0">
                <a:solidFill>
                  <a:srgbClr val="F2F5FF"/>
                </a:solidFill>
                <a:latin typeface="Arial" pitchFamily="34" charset="0"/>
                <a:ea typeface="Arial" pitchFamily="34" charset="-122"/>
                <a:cs typeface="Arial" pitchFamily="34" charset="-120"/>
              </a:rPr>
              <a:t>데모: 인터랙티브 트리맵 &amp; Falco 실시간 대응</a:t>
            </a:r>
            <a:endParaRPr lang="en-US" sz="2500" dirty="0"/>
          </a:p>
        </p:txBody>
      </p:sp>
      <p:sp>
        <p:nvSpPr>
          <p:cNvPr id="8" name="Shape 6"/>
          <p:cNvSpPr/>
          <p:nvPr/>
        </p:nvSpPr>
        <p:spPr>
          <a:xfrm>
            <a:off x="548640" y="1600200"/>
            <a:ext cx="6675120" cy="4572000"/>
          </a:xfrm>
          <a:prstGeom prst="roundRect">
            <a:avLst>
              <a:gd name="adj" fmla="val 2400"/>
            </a:avLst>
          </a:prstGeom>
          <a:solidFill>
            <a:srgbClr val="16161B"/>
          </a:solidFill>
          <a:ln/>
          <a:effectLst>
            <a:outerShdw sx="100000" sy="100000" kx="0" ky="0" algn="bl" rotWithShape="0" blurRad="101600" dist="50800" dir="5400000">
              <a:srgbClr val="000000">
                <a:alpha val="45000"/>
              </a:srgbClr>
            </a:outerShdw>
          </a:effectLst>
        </p:spPr>
      </p:sp>
      <p:sp>
        <p:nvSpPr>
          <p:cNvPr id="9" name="Text 7"/>
          <p:cNvSpPr/>
          <p:nvPr/>
        </p:nvSpPr>
        <p:spPr>
          <a:xfrm>
            <a:off x="868680" y="1874520"/>
            <a:ext cx="6035040" cy="365760"/>
          </a:xfrm>
          <a:prstGeom prst="rect">
            <a:avLst/>
          </a:prstGeom>
          <a:noFill/>
          <a:ln/>
        </p:spPr>
        <p:txBody>
          <a:bodyPr wrap="square" lIns="0" tIns="0" rIns="0" bIns="0" rtlCol="0" anchor="ctr"/>
          <a:lstStyle/>
          <a:p>
            <a:pPr indent="0" marL="0">
              <a:buNone/>
            </a:pPr>
            <a:r>
              <a:rPr lang="en-US" sz="1400" b="1" dirty="0">
                <a:solidFill>
                  <a:srgbClr val="00FFA6"/>
                </a:solidFill>
                <a:latin typeface="Courier New" pitchFamily="34" charset="0"/>
                <a:ea typeface="Courier New" pitchFamily="34" charset="-122"/>
                <a:cs typeface="Courier New" pitchFamily="34" charset="-120"/>
              </a:rPr>
              <a:t>▶  DEMO VIDEO</a:t>
            </a:r>
            <a:endParaRPr lang="en-US" sz="1400" dirty="0"/>
          </a:p>
        </p:txBody>
      </p:sp>
      <p:sp>
        <p:nvSpPr>
          <p:cNvPr id="10" name="Shape 8"/>
          <p:cNvSpPr/>
          <p:nvPr/>
        </p:nvSpPr>
        <p:spPr>
          <a:xfrm rot="5400000">
            <a:off x="3520440" y="3429000"/>
            <a:ext cx="731520" cy="914400"/>
          </a:xfrm>
          <a:prstGeom prst="triangle">
            <a:avLst/>
          </a:prstGeom>
          <a:solidFill>
            <a:srgbClr val="00FFA6">
              <a:alpha val="80000"/>
            </a:srgbClr>
          </a:solidFill>
          <a:ln/>
        </p:spPr>
      </p:sp>
      <p:sp>
        <p:nvSpPr>
          <p:cNvPr id="11" name="Text 9"/>
          <p:cNvSpPr/>
          <p:nvPr/>
        </p:nvSpPr>
        <p:spPr>
          <a:xfrm>
            <a:off x="868680" y="5669280"/>
            <a:ext cx="6035040" cy="320040"/>
          </a:xfrm>
          <a:prstGeom prst="rect">
            <a:avLst/>
          </a:prstGeom>
          <a:noFill/>
          <a:ln/>
        </p:spPr>
        <p:txBody>
          <a:bodyPr wrap="square" lIns="0" tIns="0" rIns="0" bIns="0" rtlCol="0" anchor="ctr"/>
          <a:lstStyle/>
          <a:p>
            <a:pPr indent="0" marL="0">
              <a:buNone/>
            </a:pPr>
            <a:r>
              <a:rPr lang="en-US" sz="1100" i="1" dirty="0">
                <a:solidFill>
                  <a:srgbClr val="5A6288"/>
                </a:solidFill>
                <a:latin typeface="Arial" pitchFamily="34" charset="0"/>
                <a:ea typeface="Arial" pitchFamily="34" charset="-122"/>
                <a:cs typeface="Arial" pitchFamily="34" charset="-120"/>
              </a:rPr>
              <a:t>트리맵 &amp; Falco 대응 데모 클립을 이 자리에 삽입</a:t>
            </a:r>
            <a:endParaRPr lang="en-US" sz="1100" dirty="0"/>
          </a:p>
        </p:txBody>
      </p:sp>
      <p:sp>
        <p:nvSpPr>
          <p:cNvPr id="12" name="Shape 10"/>
          <p:cNvSpPr/>
          <p:nvPr/>
        </p:nvSpPr>
        <p:spPr>
          <a:xfrm>
            <a:off x="7498080" y="1691640"/>
            <a:ext cx="4142232" cy="658368"/>
          </a:xfrm>
          <a:prstGeom prst="roundRect">
            <a:avLst>
              <a:gd name="adj" fmla="val 11111"/>
            </a:avLst>
          </a:prstGeom>
          <a:solidFill>
            <a:srgbClr val="16161B"/>
          </a:solidFill>
          <a:ln/>
        </p:spPr>
      </p:sp>
      <p:sp>
        <p:nvSpPr>
          <p:cNvPr id="13" name="Text 11"/>
          <p:cNvSpPr/>
          <p:nvPr/>
        </p:nvSpPr>
        <p:spPr>
          <a:xfrm>
            <a:off x="7635240" y="1691640"/>
            <a:ext cx="777240" cy="658368"/>
          </a:xfrm>
          <a:prstGeom prst="rect">
            <a:avLst/>
          </a:prstGeom>
          <a:noFill/>
          <a:ln/>
        </p:spPr>
        <p:txBody>
          <a:bodyPr wrap="square" lIns="0" tIns="0" rIns="0" bIns="0" rtlCol="0" anchor="ctr"/>
          <a:lstStyle/>
          <a:p>
            <a:pPr indent="0" marL="0">
              <a:buNone/>
            </a:pPr>
            <a:r>
              <a:rPr lang="en-US" sz="1200" b="1" dirty="0">
                <a:solidFill>
                  <a:srgbClr val="00FFA6"/>
                </a:solidFill>
                <a:latin typeface="Courier New" pitchFamily="34" charset="0"/>
                <a:ea typeface="Courier New" pitchFamily="34" charset="-122"/>
                <a:cs typeface="Courier New" pitchFamily="34" charset="-120"/>
              </a:rPr>
              <a:t>0:00</a:t>
            </a:r>
            <a:endParaRPr lang="en-US" sz="1200" dirty="0"/>
          </a:p>
        </p:txBody>
      </p:sp>
      <p:sp>
        <p:nvSpPr>
          <p:cNvPr id="14" name="Text 12"/>
          <p:cNvSpPr/>
          <p:nvPr/>
        </p:nvSpPr>
        <p:spPr>
          <a:xfrm>
            <a:off x="8458200" y="1691640"/>
            <a:ext cx="2862072" cy="658368"/>
          </a:xfrm>
          <a:prstGeom prst="rect">
            <a:avLst/>
          </a:prstGeom>
          <a:noFill/>
          <a:ln/>
        </p:spPr>
        <p:txBody>
          <a:bodyPr wrap="square" lIns="0" tIns="0" rIns="0" bIns="0" rtlCol="0" anchor="ctr"/>
          <a:lstStyle/>
          <a:p>
            <a:pPr indent="0" marL="0">
              <a:buNone/>
            </a:pPr>
            <a:r>
              <a:rPr lang="en-US" sz="1200" dirty="0">
                <a:solidFill>
                  <a:srgbClr val="F2F5FF"/>
                </a:solidFill>
                <a:latin typeface="Arial" pitchFamily="34" charset="0"/>
                <a:ea typeface="Arial" pitchFamily="34" charset="-122"/>
                <a:cs typeface="Arial" pitchFamily="34" charset="-120"/>
              </a:rPr>
              <a:t>세션ID · IP 기반 실시간 방사형 트리</a:t>
            </a:r>
            <a:endParaRPr lang="en-US" sz="1200" dirty="0"/>
          </a:p>
        </p:txBody>
      </p:sp>
      <p:sp>
        <p:nvSpPr>
          <p:cNvPr id="15" name="Shape 13"/>
          <p:cNvSpPr/>
          <p:nvPr/>
        </p:nvSpPr>
        <p:spPr>
          <a:xfrm>
            <a:off x="7498080" y="2450592"/>
            <a:ext cx="4142232" cy="658368"/>
          </a:xfrm>
          <a:prstGeom prst="roundRect">
            <a:avLst>
              <a:gd name="adj" fmla="val 11111"/>
            </a:avLst>
          </a:prstGeom>
          <a:solidFill>
            <a:srgbClr val="16161B"/>
          </a:solidFill>
          <a:ln/>
        </p:spPr>
      </p:sp>
      <p:sp>
        <p:nvSpPr>
          <p:cNvPr id="16" name="Text 14"/>
          <p:cNvSpPr/>
          <p:nvPr/>
        </p:nvSpPr>
        <p:spPr>
          <a:xfrm>
            <a:off x="7635240" y="2450592"/>
            <a:ext cx="777240" cy="658368"/>
          </a:xfrm>
          <a:prstGeom prst="rect">
            <a:avLst/>
          </a:prstGeom>
          <a:noFill/>
          <a:ln/>
        </p:spPr>
        <p:txBody>
          <a:bodyPr wrap="square" lIns="0" tIns="0" rIns="0" bIns="0" rtlCol="0" anchor="ctr"/>
          <a:lstStyle/>
          <a:p>
            <a:pPr indent="0" marL="0">
              <a:buNone/>
            </a:pPr>
            <a:r>
              <a:rPr lang="en-US" sz="1200" b="1" dirty="0">
                <a:solidFill>
                  <a:srgbClr val="00FFA6"/>
                </a:solidFill>
                <a:latin typeface="Courier New" pitchFamily="34" charset="0"/>
                <a:ea typeface="Courier New" pitchFamily="34" charset="-122"/>
                <a:cs typeface="Courier New" pitchFamily="34" charset="-120"/>
              </a:rPr>
              <a:t>0:20</a:t>
            </a:r>
            <a:endParaRPr lang="en-US" sz="1200" dirty="0"/>
          </a:p>
        </p:txBody>
      </p:sp>
      <p:sp>
        <p:nvSpPr>
          <p:cNvPr id="17" name="Text 15"/>
          <p:cNvSpPr/>
          <p:nvPr/>
        </p:nvSpPr>
        <p:spPr>
          <a:xfrm>
            <a:off x="8458200" y="2450592"/>
            <a:ext cx="2862072" cy="658368"/>
          </a:xfrm>
          <a:prstGeom prst="rect">
            <a:avLst/>
          </a:prstGeom>
          <a:noFill/>
          <a:ln/>
        </p:spPr>
        <p:txBody>
          <a:bodyPr wrap="square" lIns="0" tIns="0" rIns="0" bIns="0" rtlCol="0" anchor="ctr"/>
          <a:lstStyle/>
          <a:p>
            <a:pPr indent="0" marL="0">
              <a:buNone/>
            </a:pPr>
            <a:r>
              <a:rPr lang="en-US" sz="1200" dirty="0">
                <a:solidFill>
                  <a:srgbClr val="F2F5FF"/>
                </a:solidFill>
                <a:latin typeface="Arial" pitchFamily="34" charset="0"/>
                <a:ea typeface="Arial" pitchFamily="34" charset="-122"/>
                <a:cs typeface="Arial" pitchFamily="34" charset="-120"/>
              </a:rPr>
              <a:t>WAF → WAS → K8s Pod 동선 추적</a:t>
            </a:r>
            <a:endParaRPr lang="en-US" sz="1200" dirty="0"/>
          </a:p>
        </p:txBody>
      </p:sp>
      <p:sp>
        <p:nvSpPr>
          <p:cNvPr id="18" name="Shape 16"/>
          <p:cNvSpPr/>
          <p:nvPr/>
        </p:nvSpPr>
        <p:spPr>
          <a:xfrm>
            <a:off x="7498080" y="3209544"/>
            <a:ext cx="4142232" cy="658368"/>
          </a:xfrm>
          <a:prstGeom prst="roundRect">
            <a:avLst>
              <a:gd name="adj" fmla="val 11111"/>
            </a:avLst>
          </a:prstGeom>
          <a:solidFill>
            <a:srgbClr val="16161B"/>
          </a:solidFill>
          <a:ln/>
        </p:spPr>
      </p:sp>
      <p:sp>
        <p:nvSpPr>
          <p:cNvPr id="19" name="Text 17"/>
          <p:cNvSpPr/>
          <p:nvPr/>
        </p:nvSpPr>
        <p:spPr>
          <a:xfrm>
            <a:off x="7635240" y="3209544"/>
            <a:ext cx="777240" cy="658368"/>
          </a:xfrm>
          <a:prstGeom prst="rect">
            <a:avLst/>
          </a:prstGeom>
          <a:noFill/>
          <a:ln/>
        </p:spPr>
        <p:txBody>
          <a:bodyPr wrap="square" lIns="0" tIns="0" rIns="0" bIns="0" rtlCol="0" anchor="ctr"/>
          <a:lstStyle/>
          <a:p>
            <a:pPr indent="0" marL="0">
              <a:buNone/>
            </a:pPr>
            <a:r>
              <a:rPr lang="en-US" sz="1200" b="1" dirty="0">
                <a:solidFill>
                  <a:srgbClr val="00FFA6"/>
                </a:solidFill>
                <a:latin typeface="Courier New" pitchFamily="34" charset="0"/>
                <a:ea typeface="Courier New" pitchFamily="34" charset="-122"/>
                <a:cs typeface="Courier New" pitchFamily="34" charset="-120"/>
              </a:rPr>
              <a:t>0:40</a:t>
            </a:r>
            <a:endParaRPr lang="en-US" sz="1200" dirty="0"/>
          </a:p>
        </p:txBody>
      </p:sp>
      <p:sp>
        <p:nvSpPr>
          <p:cNvPr id="20" name="Text 18"/>
          <p:cNvSpPr/>
          <p:nvPr/>
        </p:nvSpPr>
        <p:spPr>
          <a:xfrm>
            <a:off x="8458200" y="3209544"/>
            <a:ext cx="2862072" cy="658368"/>
          </a:xfrm>
          <a:prstGeom prst="rect">
            <a:avLst/>
          </a:prstGeom>
          <a:noFill/>
          <a:ln/>
        </p:spPr>
        <p:txBody>
          <a:bodyPr wrap="square" lIns="0" tIns="0" rIns="0" bIns="0" rtlCol="0" anchor="ctr"/>
          <a:lstStyle/>
          <a:p>
            <a:pPr indent="0" marL="0">
              <a:buNone/>
            </a:pPr>
            <a:r>
              <a:rPr lang="en-US" sz="1200" dirty="0">
                <a:solidFill>
                  <a:srgbClr val="F2F5FF"/>
                </a:solidFill>
                <a:latin typeface="Arial" pitchFamily="34" charset="0"/>
                <a:ea typeface="Arial" pitchFamily="34" charset="-122"/>
                <a:cs typeface="Arial" pitchFamily="34" charset="-120"/>
              </a:rPr>
              <a:t>마우스 인터랙션에 노드가 반응</a:t>
            </a:r>
            <a:endParaRPr lang="en-US" sz="1200" dirty="0"/>
          </a:p>
        </p:txBody>
      </p:sp>
      <p:sp>
        <p:nvSpPr>
          <p:cNvPr id="21" name="Shape 19"/>
          <p:cNvSpPr/>
          <p:nvPr/>
        </p:nvSpPr>
        <p:spPr>
          <a:xfrm>
            <a:off x="7498080" y="3968496"/>
            <a:ext cx="4142232" cy="658368"/>
          </a:xfrm>
          <a:prstGeom prst="roundRect">
            <a:avLst>
              <a:gd name="adj" fmla="val 11111"/>
            </a:avLst>
          </a:prstGeom>
          <a:solidFill>
            <a:srgbClr val="FF1F4B">
              <a:alpha val="18000"/>
            </a:srgbClr>
          </a:solidFill>
          <a:ln/>
        </p:spPr>
      </p:sp>
      <p:sp>
        <p:nvSpPr>
          <p:cNvPr id="22" name="Text 20"/>
          <p:cNvSpPr/>
          <p:nvPr/>
        </p:nvSpPr>
        <p:spPr>
          <a:xfrm>
            <a:off x="7635240" y="3968496"/>
            <a:ext cx="777240" cy="658368"/>
          </a:xfrm>
          <a:prstGeom prst="rect">
            <a:avLst/>
          </a:prstGeom>
          <a:noFill/>
          <a:ln/>
        </p:spPr>
        <p:txBody>
          <a:bodyPr wrap="square" lIns="0" tIns="0" rIns="0" bIns="0" rtlCol="0" anchor="ctr"/>
          <a:lstStyle/>
          <a:p>
            <a:pPr indent="0" marL="0">
              <a:buNone/>
            </a:pPr>
            <a:r>
              <a:rPr lang="en-US" sz="1200" b="1" dirty="0">
                <a:solidFill>
                  <a:srgbClr val="FF1F4B"/>
                </a:solidFill>
                <a:latin typeface="Courier New" pitchFamily="34" charset="0"/>
                <a:ea typeface="Courier New" pitchFamily="34" charset="-122"/>
                <a:cs typeface="Courier New" pitchFamily="34" charset="-120"/>
              </a:rPr>
              <a:t>0:55</a:t>
            </a:r>
            <a:endParaRPr lang="en-US" sz="1200" dirty="0"/>
          </a:p>
        </p:txBody>
      </p:sp>
      <p:sp>
        <p:nvSpPr>
          <p:cNvPr id="23" name="Text 21"/>
          <p:cNvSpPr/>
          <p:nvPr/>
        </p:nvSpPr>
        <p:spPr>
          <a:xfrm>
            <a:off x="8458200" y="3968496"/>
            <a:ext cx="2862072" cy="658368"/>
          </a:xfrm>
          <a:prstGeom prst="rect">
            <a:avLst/>
          </a:prstGeom>
          <a:noFill/>
          <a:ln/>
        </p:spPr>
        <p:txBody>
          <a:bodyPr wrap="square" lIns="0" tIns="0" rIns="0" bIns="0" rtlCol="0" anchor="ctr"/>
          <a:lstStyle/>
          <a:p>
            <a:pPr indent="0" marL="0">
              <a:buNone/>
            </a:pPr>
            <a:r>
              <a:rPr lang="en-US" sz="1200" b="1" dirty="0">
                <a:solidFill>
                  <a:srgbClr val="F2F5FF"/>
                </a:solidFill>
                <a:latin typeface="Arial" pitchFamily="34" charset="0"/>
                <a:ea typeface="Arial" pitchFamily="34" charset="-122"/>
                <a:cs typeface="Arial" pitchFamily="34" charset="-120"/>
              </a:rPr>
              <a:t>컨테이너 쉘 진입 시도 → Falco 탐지</a:t>
            </a:r>
            <a:endParaRPr lang="en-US" sz="1200" dirty="0"/>
          </a:p>
        </p:txBody>
      </p:sp>
      <p:pic>
        <p:nvPicPr>
          <p:cNvPr id="24" name="Image 0" descr="preencoded.png">    </p:cNvPr>
          <p:cNvPicPr>
            <a:picLocks noChangeAspect="1"/>
          </p:cNvPicPr>
          <p:nvPr/>
        </p:nvPicPr>
        <p:blipFill>
          <a:blip r:embed="rId1"/>
          <a:stretch>
            <a:fillRect/>
          </a:stretch>
        </p:blipFill>
        <p:spPr>
          <a:xfrm>
            <a:off x="11256264" y="4123944"/>
            <a:ext cx="347472" cy="347472"/>
          </a:xfrm>
          <a:prstGeom prst="rect">
            <a:avLst/>
          </a:prstGeom>
        </p:spPr>
      </p:pic>
      <p:sp>
        <p:nvSpPr>
          <p:cNvPr id="25" name="Shape 22"/>
          <p:cNvSpPr/>
          <p:nvPr/>
        </p:nvSpPr>
        <p:spPr>
          <a:xfrm>
            <a:off x="7498080" y="4727448"/>
            <a:ext cx="4142232" cy="658368"/>
          </a:xfrm>
          <a:prstGeom prst="roundRect">
            <a:avLst>
              <a:gd name="adj" fmla="val 11111"/>
            </a:avLst>
          </a:prstGeom>
          <a:solidFill>
            <a:srgbClr val="FF1F4B">
              <a:alpha val="18000"/>
            </a:srgbClr>
          </a:solidFill>
          <a:ln/>
        </p:spPr>
      </p:sp>
      <p:sp>
        <p:nvSpPr>
          <p:cNvPr id="26" name="Text 23"/>
          <p:cNvSpPr/>
          <p:nvPr/>
        </p:nvSpPr>
        <p:spPr>
          <a:xfrm>
            <a:off x="7635240" y="4727448"/>
            <a:ext cx="777240" cy="658368"/>
          </a:xfrm>
          <a:prstGeom prst="rect">
            <a:avLst/>
          </a:prstGeom>
          <a:noFill/>
          <a:ln/>
        </p:spPr>
        <p:txBody>
          <a:bodyPr wrap="square" lIns="0" tIns="0" rIns="0" bIns="0" rtlCol="0" anchor="ctr"/>
          <a:lstStyle/>
          <a:p>
            <a:pPr indent="0" marL="0">
              <a:buNone/>
            </a:pPr>
            <a:r>
              <a:rPr lang="en-US" sz="1200" b="1" dirty="0">
                <a:solidFill>
                  <a:srgbClr val="FF1F4B"/>
                </a:solidFill>
                <a:latin typeface="Courier New" pitchFamily="34" charset="0"/>
                <a:ea typeface="Courier New" pitchFamily="34" charset="-122"/>
                <a:cs typeface="Courier New" pitchFamily="34" charset="-120"/>
              </a:rPr>
              <a:t>1:10</a:t>
            </a:r>
            <a:endParaRPr lang="en-US" sz="1200" dirty="0"/>
          </a:p>
        </p:txBody>
      </p:sp>
      <p:sp>
        <p:nvSpPr>
          <p:cNvPr id="27" name="Text 24"/>
          <p:cNvSpPr/>
          <p:nvPr/>
        </p:nvSpPr>
        <p:spPr>
          <a:xfrm>
            <a:off x="8458200" y="4727448"/>
            <a:ext cx="2862072" cy="658368"/>
          </a:xfrm>
          <a:prstGeom prst="rect">
            <a:avLst/>
          </a:prstGeom>
          <a:noFill/>
          <a:ln/>
        </p:spPr>
        <p:txBody>
          <a:bodyPr wrap="square" lIns="0" tIns="0" rIns="0" bIns="0" rtlCol="0" anchor="ctr"/>
          <a:lstStyle/>
          <a:p>
            <a:pPr indent="0" marL="0">
              <a:buNone/>
            </a:pPr>
            <a:r>
              <a:rPr lang="en-US" sz="1200" b="1" dirty="0">
                <a:solidFill>
                  <a:srgbClr val="F2F5FF"/>
                </a:solidFill>
                <a:latin typeface="Arial" pitchFamily="34" charset="0"/>
                <a:ea typeface="Arial" pitchFamily="34" charset="-122"/>
                <a:cs typeface="Arial" pitchFamily="34" charset="-120"/>
              </a:rPr>
              <a:t>네온 레드 펄스 경보 + 실시간 명령어 출력</a:t>
            </a:r>
            <a:endParaRPr lang="en-US" sz="1200" dirty="0"/>
          </a:p>
        </p:txBody>
      </p:sp>
      <p:sp>
        <p:nvSpPr>
          <p:cNvPr id="28" name="Shape 25"/>
          <p:cNvSpPr/>
          <p:nvPr/>
        </p:nvSpPr>
        <p:spPr>
          <a:xfrm>
            <a:off x="7498080" y="5486400"/>
            <a:ext cx="4142232" cy="658368"/>
          </a:xfrm>
          <a:prstGeom prst="roundRect">
            <a:avLst>
              <a:gd name="adj" fmla="val 11111"/>
            </a:avLst>
          </a:prstGeom>
          <a:solidFill>
            <a:srgbClr val="16161B"/>
          </a:solidFill>
          <a:ln/>
        </p:spPr>
      </p:sp>
      <p:sp>
        <p:nvSpPr>
          <p:cNvPr id="29" name="Text 26"/>
          <p:cNvSpPr/>
          <p:nvPr/>
        </p:nvSpPr>
        <p:spPr>
          <a:xfrm>
            <a:off x="7635240" y="5486400"/>
            <a:ext cx="777240" cy="658368"/>
          </a:xfrm>
          <a:prstGeom prst="rect">
            <a:avLst/>
          </a:prstGeom>
          <a:noFill/>
          <a:ln/>
        </p:spPr>
        <p:txBody>
          <a:bodyPr wrap="square" lIns="0" tIns="0" rIns="0" bIns="0" rtlCol="0" anchor="ctr"/>
          <a:lstStyle/>
          <a:p>
            <a:pPr indent="0" marL="0">
              <a:buNone/>
            </a:pPr>
            <a:r>
              <a:rPr lang="en-US" sz="1200" b="1" dirty="0">
                <a:solidFill>
                  <a:srgbClr val="00FFA6"/>
                </a:solidFill>
                <a:latin typeface="Courier New" pitchFamily="34" charset="0"/>
                <a:ea typeface="Courier New" pitchFamily="34" charset="-122"/>
                <a:cs typeface="Courier New" pitchFamily="34" charset="-120"/>
              </a:rPr>
              <a:t>1:25</a:t>
            </a:r>
            <a:endParaRPr lang="en-US" sz="1200" dirty="0"/>
          </a:p>
        </p:txBody>
      </p:sp>
      <p:sp>
        <p:nvSpPr>
          <p:cNvPr id="30" name="Text 27"/>
          <p:cNvSpPr/>
          <p:nvPr/>
        </p:nvSpPr>
        <p:spPr>
          <a:xfrm>
            <a:off x="8458200" y="5486400"/>
            <a:ext cx="2862072" cy="658368"/>
          </a:xfrm>
          <a:prstGeom prst="rect">
            <a:avLst/>
          </a:prstGeom>
          <a:noFill/>
          <a:ln/>
        </p:spPr>
        <p:txBody>
          <a:bodyPr wrap="square" lIns="0" tIns="0" rIns="0" bIns="0" rtlCol="0" anchor="ctr"/>
          <a:lstStyle/>
          <a:p>
            <a:pPr indent="0" marL="0">
              <a:buNone/>
            </a:pPr>
            <a:r>
              <a:rPr lang="en-US" sz="1200" dirty="0">
                <a:solidFill>
                  <a:srgbClr val="F2F5FF"/>
                </a:solidFill>
                <a:latin typeface="Arial" pitchFamily="34" charset="0"/>
                <a:ea typeface="Arial" pitchFamily="34" charset="-122"/>
                <a:cs typeface="Arial" pitchFamily="34" charset="-120"/>
              </a:rPr>
              <a:t>3초 만에 침해 사고를 시각적으로 인지</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48640" y="457200"/>
            <a:ext cx="2651760" cy="365760"/>
          </a:xfrm>
          <a:prstGeom prst="roundRect">
            <a:avLst>
              <a:gd name="adj" fmla="val 50000"/>
            </a:avLst>
          </a:prstGeom>
          <a:solidFill>
            <a:srgbClr val="16161B"/>
          </a:solidFill>
          <a:ln/>
        </p:spPr>
      </p:sp>
      <p:sp>
        <p:nvSpPr>
          <p:cNvPr id="3" name="Text 1"/>
          <p:cNvSpPr/>
          <p:nvPr/>
        </p:nvSpPr>
        <p:spPr>
          <a:xfrm>
            <a:off x="548640" y="457200"/>
            <a:ext cx="2651760" cy="365760"/>
          </a:xfrm>
          <a:prstGeom prst="rect">
            <a:avLst/>
          </a:prstGeom>
          <a:noFill/>
          <a:ln/>
        </p:spPr>
        <p:txBody>
          <a:bodyPr wrap="square" lIns="0" tIns="0" rIns="0" bIns="0" rtlCol="0" anchor="ctr"/>
          <a:lstStyle/>
          <a:p>
            <a:pPr algn="ctr" indent="0" marL="0">
              <a:buNone/>
            </a:pPr>
            <a:r>
              <a:rPr lang="en-US" sz="1200" b="1" dirty="0">
                <a:solidFill>
                  <a:srgbClr val="00FFA6"/>
                </a:solidFill>
                <a:latin typeface="Arial" pitchFamily="34" charset="0"/>
                <a:ea typeface="Arial" pitchFamily="34" charset="-122"/>
                <a:cs typeface="Arial" pitchFamily="34" charset="-120"/>
              </a:rPr>
              <a:t>04 · 아키텍처</a:t>
            </a:r>
            <a:endParaRPr lang="en-US" sz="1200" dirty="0"/>
          </a:p>
        </p:txBody>
      </p:sp>
      <p:sp>
        <p:nvSpPr>
          <p:cNvPr id="4" name="Shape 2"/>
          <p:cNvSpPr/>
          <p:nvPr/>
        </p:nvSpPr>
        <p:spPr>
          <a:xfrm>
            <a:off x="9262872" y="457200"/>
            <a:ext cx="2377440" cy="365760"/>
          </a:xfrm>
          <a:prstGeom prst="roundRect">
            <a:avLst>
              <a:gd name="adj" fmla="val 50000"/>
            </a:avLst>
          </a:prstGeom>
          <a:solidFill>
            <a:srgbClr val="16161B"/>
          </a:solidFill>
          <a:ln/>
        </p:spPr>
      </p:sp>
      <p:sp>
        <p:nvSpPr>
          <p:cNvPr id="5" name="Text 3"/>
          <p:cNvSpPr/>
          <p:nvPr/>
        </p:nvSpPr>
        <p:spPr>
          <a:xfrm>
            <a:off x="9262872" y="457200"/>
            <a:ext cx="2377440" cy="365760"/>
          </a:xfrm>
          <a:prstGeom prst="rect">
            <a:avLst/>
          </a:prstGeom>
          <a:noFill/>
          <a:ln/>
        </p:spPr>
        <p:txBody>
          <a:bodyPr wrap="square" lIns="0" tIns="0" rIns="0" bIns="0" rtlCol="0" anchor="ctr"/>
          <a:lstStyle/>
          <a:p>
            <a:pPr algn="ctr" indent="0" marL="0">
              <a:buNone/>
            </a:pPr>
            <a:r>
              <a:rPr lang="en-US" sz="1100" dirty="0">
                <a:solidFill>
                  <a:srgbClr val="8890B5"/>
                </a:solidFill>
                <a:latin typeface="Courier New" pitchFamily="34" charset="0"/>
                <a:ea typeface="Courier New" pitchFamily="34" charset="-122"/>
                <a:cs typeface="Courier New" pitchFamily="34" charset="-120"/>
              </a:rPr>
              <a:t>04:30–06:50</a:t>
            </a:r>
            <a:endParaRPr lang="en-US" sz="1100" dirty="0"/>
          </a:p>
        </p:txBody>
      </p:sp>
      <p:sp>
        <p:nvSpPr>
          <p:cNvPr id="6" name="Text 4"/>
          <p:cNvSpPr/>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A6288"/>
                </a:solidFill>
                <a:latin typeface="Arial" pitchFamily="34" charset="0"/>
                <a:ea typeface="Arial" pitchFamily="34" charset="-122"/>
                <a:cs typeface="Arial" pitchFamily="34" charset="-120"/>
              </a:rPr>
              <a:t>6 / 8</a:t>
            </a:r>
            <a:endParaRPr lang="en-US" sz="1000" dirty="0"/>
          </a:p>
        </p:txBody>
      </p:sp>
      <p:sp>
        <p:nvSpPr>
          <p:cNvPr id="7" name="Text 5"/>
          <p:cNvSpPr/>
          <p:nvPr/>
        </p:nvSpPr>
        <p:spPr>
          <a:xfrm>
            <a:off x="548640" y="914400"/>
            <a:ext cx="11091672" cy="502920"/>
          </a:xfrm>
          <a:prstGeom prst="rect">
            <a:avLst/>
          </a:prstGeom>
          <a:noFill/>
          <a:ln/>
        </p:spPr>
        <p:txBody>
          <a:bodyPr wrap="square" lIns="0" tIns="0" rIns="0" bIns="0" rtlCol="0" anchor="ctr"/>
          <a:lstStyle/>
          <a:p>
            <a:pPr indent="0" marL="0">
              <a:buNone/>
            </a:pPr>
            <a:r>
              <a:rPr lang="en-US" sz="2600" b="1" dirty="0">
                <a:solidFill>
                  <a:srgbClr val="F2F5FF"/>
                </a:solidFill>
                <a:latin typeface="Arial" pitchFamily="34" charset="0"/>
                <a:ea typeface="Arial" pitchFamily="34" charset="-122"/>
                <a:cs typeface="Arial" pitchFamily="34" charset="-120"/>
              </a:rPr>
              <a:t>파이프라인 아키텍처 &amp; 오픈소스 조합</a:t>
            </a:r>
            <a:endParaRPr lang="en-US" sz="2600" dirty="0"/>
          </a:p>
        </p:txBody>
      </p:sp>
      <p:sp>
        <p:nvSpPr>
          <p:cNvPr id="8" name="Text 6"/>
          <p:cNvSpPr/>
          <p:nvPr/>
        </p:nvSpPr>
        <p:spPr>
          <a:xfrm>
            <a:off x="548640" y="1389888"/>
            <a:ext cx="11091672" cy="320040"/>
          </a:xfrm>
          <a:prstGeom prst="rect">
            <a:avLst/>
          </a:prstGeom>
          <a:noFill/>
          <a:ln/>
        </p:spPr>
        <p:txBody>
          <a:bodyPr wrap="square" lIns="0" tIns="0" rIns="0" bIns="0" rtlCol="0" anchor="ctr"/>
          <a:lstStyle/>
          <a:p>
            <a:pPr indent="0" marL="0">
              <a:buNone/>
            </a:pPr>
            <a:r>
              <a:rPr lang="en-US" sz="1300" dirty="0">
                <a:solidFill>
                  <a:srgbClr val="8890B5"/>
                </a:solidFill>
                <a:latin typeface="Arial" pitchFamily="34" charset="0"/>
                <a:ea typeface="Arial" pitchFamily="34" charset="-122"/>
                <a:cs typeface="Arial" pitchFamily="34" charset="-120"/>
              </a:rPr>
              <a:t>특정 문제를 풀기 위해 가장 적합한 오픈소스를 조합했습니다</a:t>
            </a:r>
            <a:endParaRPr lang="en-US" sz="1300" dirty="0"/>
          </a:p>
        </p:txBody>
      </p:sp>
      <p:sp>
        <p:nvSpPr>
          <p:cNvPr id="9" name="Shape 7"/>
          <p:cNvSpPr/>
          <p:nvPr/>
        </p:nvSpPr>
        <p:spPr>
          <a:xfrm>
            <a:off x="548640" y="1920240"/>
            <a:ext cx="2286000" cy="685800"/>
          </a:xfrm>
          <a:prstGeom prst="roundRect">
            <a:avLst>
              <a:gd name="adj" fmla="val 10667"/>
            </a:avLst>
          </a:prstGeom>
          <a:solidFill>
            <a:srgbClr val="16161B"/>
          </a:solidFill>
          <a:ln/>
          <a:effectLst>
            <a:outerShdw sx="100000" sy="100000" kx="0" ky="0" algn="bl" rotWithShape="0" blurRad="101600" dist="50800" dir="5400000">
              <a:srgbClr val="000000">
                <a:alpha val="45000"/>
              </a:srgbClr>
            </a:outerShdw>
          </a:effectLst>
        </p:spPr>
      </p:sp>
      <p:sp>
        <p:nvSpPr>
          <p:cNvPr id="10" name="Text 8"/>
          <p:cNvSpPr/>
          <p:nvPr/>
        </p:nvSpPr>
        <p:spPr>
          <a:xfrm>
            <a:off x="548640" y="1920240"/>
            <a:ext cx="2286000" cy="685800"/>
          </a:xfrm>
          <a:prstGeom prst="rect">
            <a:avLst/>
          </a:prstGeom>
          <a:noFill/>
          <a:ln/>
        </p:spPr>
        <p:txBody>
          <a:bodyPr wrap="square" lIns="0" tIns="0" rIns="0" bIns="0" rtlCol="0" anchor="ctr"/>
          <a:lstStyle/>
          <a:p>
            <a:pPr algn="ctr" indent="0" marL="0">
              <a:buNone/>
            </a:pPr>
            <a:r>
              <a:rPr lang="en-US" sz="1400" b="1" dirty="0">
                <a:solidFill>
                  <a:srgbClr val="F2F5FF"/>
                </a:solidFill>
                <a:latin typeface="Arial" pitchFamily="34" charset="0"/>
                <a:ea typeface="Arial" pitchFamily="34" charset="-122"/>
                <a:cs typeface="Arial" pitchFamily="34" charset="-120"/>
              </a:rPr>
              <a:t>WAF</a:t>
            </a:r>
            <a:endParaRPr lang="en-US" sz="1400" dirty="0"/>
          </a:p>
        </p:txBody>
      </p:sp>
      <p:sp>
        <p:nvSpPr>
          <p:cNvPr id="11" name="Shape 9"/>
          <p:cNvSpPr/>
          <p:nvPr/>
        </p:nvSpPr>
        <p:spPr>
          <a:xfrm>
            <a:off x="3483864" y="1920240"/>
            <a:ext cx="2286000" cy="685800"/>
          </a:xfrm>
          <a:prstGeom prst="roundRect">
            <a:avLst>
              <a:gd name="adj" fmla="val 10667"/>
            </a:avLst>
          </a:prstGeom>
          <a:solidFill>
            <a:srgbClr val="16161B"/>
          </a:solidFill>
          <a:ln/>
          <a:effectLst>
            <a:outerShdw sx="100000" sy="100000" kx="0" ky="0" algn="bl" rotWithShape="0" blurRad="101600" dist="50800" dir="5400000">
              <a:srgbClr val="000000">
                <a:alpha val="45000"/>
              </a:srgbClr>
            </a:outerShdw>
          </a:effectLst>
        </p:spPr>
      </p:sp>
      <p:sp>
        <p:nvSpPr>
          <p:cNvPr id="12" name="Text 10"/>
          <p:cNvSpPr/>
          <p:nvPr/>
        </p:nvSpPr>
        <p:spPr>
          <a:xfrm>
            <a:off x="3483864" y="1920240"/>
            <a:ext cx="2286000" cy="685800"/>
          </a:xfrm>
          <a:prstGeom prst="rect">
            <a:avLst/>
          </a:prstGeom>
          <a:noFill/>
          <a:ln/>
        </p:spPr>
        <p:txBody>
          <a:bodyPr wrap="square" lIns="0" tIns="0" rIns="0" bIns="0" rtlCol="0" anchor="ctr"/>
          <a:lstStyle/>
          <a:p>
            <a:pPr algn="ctr" indent="0" marL="0">
              <a:buNone/>
            </a:pPr>
            <a:r>
              <a:rPr lang="en-US" sz="1400" b="1" dirty="0">
                <a:solidFill>
                  <a:srgbClr val="F2F5FF"/>
                </a:solidFill>
                <a:latin typeface="Arial" pitchFamily="34" charset="0"/>
                <a:ea typeface="Arial" pitchFamily="34" charset="-122"/>
                <a:cs typeface="Arial" pitchFamily="34" charset="-120"/>
              </a:rPr>
              <a:t>WAS</a:t>
            </a:r>
            <a:endParaRPr lang="en-US" sz="1400" dirty="0"/>
          </a:p>
        </p:txBody>
      </p:sp>
      <p:sp>
        <p:nvSpPr>
          <p:cNvPr id="13" name="Shape 11"/>
          <p:cNvSpPr/>
          <p:nvPr/>
        </p:nvSpPr>
        <p:spPr>
          <a:xfrm>
            <a:off x="6419088" y="1920240"/>
            <a:ext cx="2286000" cy="685800"/>
          </a:xfrm>
          <a:prstGeom prst="roundRect">
            <a:avLst>
              <a:gd name="adj" fmla="val 10667"/>
            </a:avLst>
          </a:prstGeom>
          <a:solidFill>
            <a:srgbClr val="16161B"/>
          </a:solidFill>
          <a:ln/>
          <a:effectLst>
            <a:outerShdw sx="100000" sy="100000" kx="0" ky="0" algn="bl" rotWithShape="0" blurRad="101600" dist="50800" dir="5400000">
              <a:srgbClr val="000000">
                <a:alpha val="45000"/>
              </a:srgbClr>
            </a:outerShdw>
          </a:effectLst>
        </p:spPr>
      </p:sp>
      <p:sp>
        <p:nvSpPr>
          <p:cNvPr id="14" name="Text 12"/>
          <p:cNvSpPr/>
          <p:nvPr/>
        </p:nvSpPr>
        <p:spPr>
          <a:xfrm>
            <a:off x="6419088" y="1920240"/>
            <a:ext cx="2286000" cy="685800"/>
          </a:xfrm>
          <a:prstGeom prst="rect">
            <a:avLst/>
          </a:prstGeom>
          <a:noFill/>
          <a:ln/>
        </p:spPr>
        <p:txBody>
          <a:bodyPr wrap="square" lIns="0" tIns="0" rIns="0" bIns="0" rtlCol="0" anchor="ctr"/>
          <a:lstStyle/>
          <a:p>
            <a:pPr algn="ctr" indent="0" marL="0">
              <a:buNone/>
            </a:pPr>
            <a:r>
              <a:rPr lang="en-US" sz="1400" b="1" dirty="0">
                <a:solidFill>
                  <a:srgbClr val="F2F5FF"/>
                </a:solidFill>
                <a:latin typeface="Arial" pitchFamily="34" charset="0"/>
                <a:ea typeface="Arial" pitchFamily="34" charset="-122"/>
                <a:cs typeface="Arial" pitchFamily="34" charset="-120"/>
              </a:rPr>
              <a:t>K8s Audit</a:t>
            </a:r>
            <a:endParaRPr lang="en-US" sz="1400" dirty="0"/>
          </a:p>
        </p:txBody>
      </p:sp>
      <p:sp>
        <p:nvSpPr>
          <p:cNvPr id="15" name="Shape 13"/>
          <p:cNvSpPr/>
          <p:nvPr/>
        </p:nvSpPr>
        <p:spPr>
          <a:xfrm>
            <a:off x="9354312" y="1920240"/>
            <a:ext cx="2286000" cy="685800"/>
          </a:xfrm>
          <a:prstGeom prst="roundRect">
            <a:avLst>
              <a:gd name="adj" fmla="val 10667"/>
            </a:avLst>
          </a:prstGeom>
          <a:solidFill>
            <a:srgbClr val="16161B"/>
          </a:solidFill>
          <a:ln/>
          <a:effectLst>
            <a:outerShdw sx="100000" sy="100000" kx="0" ky="0" algn="bl" rotWithShape="0" blurRad="101600" dist="50800" dir="5400000">
              <a:srgbClr val="000000">
                <a:alpha val="45000"/>
              </a:srgbClr>
            </a:outerShdw>
          </a:effectLst>
        </p:spPr>
      </p:sp>
      <p:sp>
        <p:nvSpPr>
          <p:cNvPr id="16" name="Text 14"/>
          <p:cNvSpPr/>
          <p:nvPr/>
        </p:nvSpPr>
        <p:spPr>
          <a:xfrm>
            <a:off x="9354312" y="1920240"/>
            <a:ext cx="2286000" cy="685800"/>
          </a:xfrm>
          <a:prstGeom prst="rect">
            <a:avLst/>
          </a:prstGeom>
          <a:noFill/>
          <a:ln/>
        </p:spPr>
        <p:txBody>
          <a:bodyPr wrap="square" lIns="0" tIns="0" rIns="0" bIns="0" rtlCol="0" anchor="ctr"/>
          <a:lstStyle/>
          <a:p>
            <a:pPr algn="ctr" indent="0" marL="0">
              <a:buNone/>
            </a:pPr>
            <a:r>
              <a:rPr lang="en-US" sz="1400" b="1" dirty="0">
                <a:solidFill>
                  <a:srgbClr val="F2F5FF"/>
                </a:solidFill>
                <a:latin typeface="Arial" pitchFamily="34" charset="0"/>
                <a:ea typeface="Arial" pitchFamily="34" charset="-122"/>
                <a:cs typeface="Arial" pitchFamily="34" charset="-120"/>
              </a:rPr>
              <a:t>Falco</a:t>
            </a:r>
            <a:endParaRPr lang="en-US" sz="1400" dirty="0"/>
          </a:p>
        </p:txBody>
      </p:sp>
      <p:sp>
        <p:nvSpPr>
          <p:cNvPr id="17" name="Shape 15"/>
          <p:cNvSpPr/>
          <p:nvPr/>
        </p:nvSpPr>
        <p:spPr>
          <a:xfrm>
            <a:off x="1691640" y="2606040"/>
            <a:ext cx="4404208" cy="365760"/>
          </a:xfrm>
          <a:prstGeom prst="line">
            <a:avLst/>
          </a:prstGeom>
          <a:noFill/>
          <a:ln w="19050">
            <a:solidFill>
              <a:srgbClr val="8890B5"/>
            </a:solidFill>
            <a:prstDash val="solid"/>
            <a:tailEnd type="triangle"/>
          </a:ln>
        </p:spPr>
      </p:sp>
      <p:sp>
        <p:nvSpPr>
          <p:cNvPr id="18" name="Shape 16"/>
          <p:cNvSpPr/>
          <p:nvPr/>
        </p:nvSpPr>
        <p:spPr>
          <a:xfrm>
            <a:off x="4626864" y="2606040"/>
            <a:ext cx="1468984" cy="365760"/>
          </a:xfrm>
          <a:prstGeom prst="line">
            <a:avLst/>
          </a:prstGeom>
          <a:noFill/>
          <a:ln w="19050">
            <a:solidFill>
              <a:srgbClr val="8890B5"/>
            </a:solidFill>
            <a:prstDash val="solid"/>
            <a:tailEnd type="triangle"/>
          </a:ln>
        </p:spPr>
      </p:sp>
      <p:sp>
        <p:nvSpPr>
          <p:cNvPr id="19" name="Shape 17"/>
          <p:cNvSpPr/>
          <p:nvPr/>
        </p:nvSpPr>
        <p:spPr>
          <a:xfrm flipH="1">
            <a:off x="6095848" y="2606040"/>
            <a:ext cx="1466240" cy="365760"/>
          </a:xfrm>
          <a:prstGeom prst="line">
            <a:avLst/>
          </a:prstGeom>
          <a:noFill/>
          <a:ln w="19050">
            <a:solidFill>
              <a:srgbClr val="8890B5"/>
            </a:solidFill>
            <a:prstDash val="solid"/>
            <a:tailEnd type="triangle"/>
          </a:ln>
        </p:spPr>
      </p:sp>
      <p:sp>
        <p:nvSpPr>
          <p:cNvPr id="20" name="Shape 18"/>
          <p:cNvSpPr/>
          <p:nvPr/>
        </p:nvSpPr>
        <p:spPr>
          <a:xfrm flipH="1">
            <a:off x="6095848" y="2606040"/>
            <a:ext cx="4401464" cy="365760"/>
          </a:xfrm>
          <a:prstGeom prst="line">
            <a:avLst/>
          </a:prstGeom>
          <a:noFill/>
          <a:ln w="19050">
            <a:solidFill>
              <a:srgbClr val="8890B5"/>
            </a:solidFill>
            <a:prstDash val="solid"/>
            <a:tailEnd type="triangle"/>
          </a:ln>
        </p:spPr>
      </p:sp>
      <p:sp>
        <p:nvSpPr>
          <p:cNvPr id="21" name="Shape 19"/>
          <p:cNvSpPr/>
          <p:nvPr/>
        </p:nvSpPr>
        <p:spPr>
          <a:xfrm>
            <a:off x="4449928" y="2971800"/>
            <a:ext cx="3291840" cy="640080"/>
          </a:xfrm>
          <a:prstGeom prst="roundRect">
            <a:avLst>
              <a:gd name="adj" fmla="val 11429"/>
            </a:avLst>
          </a:prstGeom>
          <a:solidFill>
            <a:srgbClr val="0D0D10"/>
          </a:solidFill>
          <a:ln w="19050">
            <a:solidFill>
              <a:srgbClr val="00FFA6"/>
            </a:solidFill>
            <a:prstDash val="solid"/>
          </a:ln>
          <a:effectLst>
            <a:outerShdw sx="100000" sy="100000" kx="0" ky="0" algn="bl" rotWithShape="0" blurRad="101600" dist="50800" dir="5400000">
              <a:srgbClr val="000000">
                <a:alpha val="45000"/>
              </a:srgbClr>
            </a:outerShdw>
          </a:effectLst>
        </p:spPr>
      </p:sp>
      <p:sp>
        <p:nvSpPr>
          <p:cNvPr id="22" name="Text 20"/>
          <p:cNvSpPr/>
          <p:nvPr/>
        </p:nvSpPr>
        <p:spPr>
          <a:xfrm>
            <a:off x="4449928" y="2971800"/>
            <a:ext cx="3291840" cy="640080"/>
          </a:xfrm>
          <a:prstGeom prst="rect">
            <a:avLst/>
          </a:prstGeom>
          <a:noFill/>
          <a:ln/>
        </p:spPr>
        <p:txBody>
          <a:bodyPr wrap="square" lIns="0" tIns="0" rIns="0" bIns="0" rtlCol="0" anchor="ctr"/>
          <a:lstStyle/>
          <a:p>
            <a:pPr algn="ctr" indent="0" marL="0">
              <a:buNone/>
            </a:pPr>
            <a:r>
              <a:rPr lang="en-US" sz="1400" b="1" dirty="0">
                <a:solidFill>
                  <a:srgbClr val="F2F5FF"/>
                </a:solidFill>
                <a:latin typeface="Arial" pitchFamily="34" charset="0"/>
                <a:ea typeface="Arial" pitchFamily="34" charset="-122"/>
                <a:cs typeface="Arial" pitchFamily="34" charset="-120"/>
              </a:rPr>
              <a:t>Kafka — 소스별 Topic 분리</a:t>
            </a:r>
            <a:endParaRPr lang="en-US" sz="1400" dirty="0"/>
          </a:p>
        </p:txBody>
      </p:sp>
      <p:sp>
        <p:nvSpPr>
          <p:cNvPr id="23" name="Shape 21"/>
          <p:cNvSpPr/>
          <p:nvPr/>
        </p:nvSpPr>
        <p:spPr>
          <a:xfrm>
            <a:off x="6095848" y="3611880"/>
            <a:ext cx="9144" cy="182880"/>
          </a:xfrm>
          <a:prstGeom prst="line">
            <a:avLst/>
          </a:prstGeom>
          <a:noFill/>
          <a:ln w="22225">
            <a:solidFill>
              <a:srgbClr val="00FFA6"/>
            </a:solidFill>
            <a:prstDash val="solid"/>
            <a:tailEnd type="triangle"/>
          </a:ln>
        </p:spPr>
      </p:sp>
      <p:sp>
        <p:nvSpPr>
          <p:cNvPr id="24" name="Shape 22"/>
          <p:cNvSpPr/>
          <p:nvPr/>
        </p:nvSpPr>
        <p:spPr>
          <a:xfrm>
            <a:off x="4724248" y="3794760"/>
            <a:ext cx="2743200" cy="566928"/>
          </a:xfrm>
          <a:prstGeom prst="roundRect">
            <a:avLst>
              <a:gd name="adj" fmla="val 12903"/>
            </a:avLst>
          </a:prstGeom>
          <a:solidFill>
            <a:srgbClr val="0D0D10"/>
          </a:solidFill>
          <a:ln w="19050">
            <a:solidFill>
              <a:srgbClr val="00FFA6"/>
            </a:solidFill>
            <a:prstDash val="solid"/>
          </a:ln>
          <a:effectLst>
            <a:outerShdw sx="100000" sy="100000" kx="0" ky="0" algn="bl" rotWithShape="0" blurRad="101600" dist="50800" dir="5400000">
              <a:srgbClr val="000000">
                <a:alpha val="45000"/>
              </a:srgbClr>
            </a:outerShdw>
          </a:effectLst>
        </p:spPr>
      </p:sp>
      <p:sp>
        <p:nvSpPr>
          <p:cNvPr id="25" name="Text 23"/>
          <p:cNvSpPr/>
          <p:nvPr/>
        </p:nvSpPr>
        <p:spPr>
          <a:xfrm>
            <a:off x="4724248" y="3794760"/>
            <a:ext cx="2743200" cy="566928"/>
          </a:xfrm>
          <a:prstGeom prst="rect">
            <a:avLst/>
          </a:prstGeom>
          <a:noFill/>
          <a:ln/>
        </p:spPr>
        <p:txBody>
          <a:bodyPr wrap="square" lIns="0" tIns="0" rIns="0" bIns="0" rtlCol="0" anchor="ctr"/>
          <a:lstStyle/>
          <a:p>
            <a:pPr algn="ctr" indent="0" marL="0">
              <a:buNone/>
            </a:pPr>
            <a:r>
              <a:rPr lang="en-US" sz="1300" b="1" dirty="0">
                <a:solidFill>
                  <a:srgbClr val="F2F5FF"/>
                </a:solidFill>
                <a:latin typeface="Arial" pitchFamily="34" charset="0"/>
                <a:ea typeface="Arial" pitchFamily="34" charset="-122"/>
                <a:cs typeface="Arial" pitchFamily="34" charset="-120"/>
              </a:rPr>
              <a:t>normalizer — 포맷 정규화</a:t>
            </a:r>
            <a:endParaRPr lang="en-US" sz="1300" dirty="0"/>
          </a:p>
        </p:txBody>
      </p:sp>
      <p:sp>
        <p:nvSpPr>
          <p:cNvPr id="26" name="Shape 24"/>
          <p:cNvSpPr/>
          <p:nvPr/>
        </p:nvSpPr>
        <p:spPr>
          <a:xfrm>
            <a:off x="6095848" y="4361688"/>
            <a:ext cx="9144" cy="210312"/>
          </a:xfrm>
          <a:prstGeom prst="line">
            <a:avLst/>
          </a:prstGeom>
          <a:noFill/>
          <a:ln w="22225">
            <a:solidFill>
              <a:srgbClr val="00FFA6"/>
            </a:solidFill>
            <a:prstDash val="solid"/>
            <a:tailEnd type="triangle"/>
          </a:ln>
        </p:spPr>
      </p:sp>
      <p:sp>
        <p:nvSpPr>
          <p:cNvPr id="27" name="Shape 25"/>
          <p:cNvSpPr/>
          <p:nvPr/>
        </p:nvSpPr>
        <p:spPr>
          <a:xfrm>
            <a:off x="3535528" y="4572000"/>
            <a:ext cx="5120640" cy="822960"/>
          </a:xfrm>
          <a:prstGeom prst="roundRect">
            <a:avLst>
              <a:gd name="adj" fmla="val 11111"/>
            </a:avLst>
          </a:prstGeom>
          <a:solidFill>
            <a:srgbClr val="0D0D10"/>
          </a:solidFill>
          <a:ln w="25400">
            <a:solidFill>
              <a:srgbClr val="00FFA6"/>
            </a:solidFill>
            <a:prstDash val="solid"/>
          </a:ln>
          <a:effectLst>
            <a:outerShdw sx="100000" sy="100000" kx="0" ky="0" algn="bl" rotWithShape="0" blurRad="101600" dist="50800" dir="5400000">
              <a:srgbClr val="000000">
                <a:alpha val="45000"/>
              </a:srgbClr>
            </a:outerShdw>
          </a:effectLst>
        </p:spPr>
      </p:sp>
      <p:sp>
        <p:nvSpPr>
          <p:cNvPr id="28" name="Text 26"/>
          <p:cNvSpPr/>
          <p:nvPr/>
        </p:nvSpPr>
        <p:spPr>
          <a:xfrm>
            <a:off x="3535528" y="4572000"/>
            <a:ext cx="5120640" cy="822960"/>
          </a:xfrm>
          <a:prstGeom prst="rect">
            <a:avLst/>
          </a:prstGeom>
          <a:noFill/>
          <a:ln/>
        </p:spPr>
        <p:txBody>
          <a:bodyPr wrap="square" lIns="0" tIns="0" rIns="0" bIns="0" rtlCol="0" anchor="ctr"/>
          <a:lstStyle/>
          <a:p>
            <a:pPr algn="ctr" indent="0" marL="0">
              <a:buNone/>
            </a:pPr>
            <a:r>
              <a:rPr lang="en-US" sz="1600" b="1" dirty="0">
                <a:solidFill>
                  <a:srgbClr val="00FFA6"/>
                </a:solidFill>
                <a:latin typeface="Arial" pitchFamily="34" charset="0"/>
                <a:ea typeface="Arial" pitchFamily="34" charset="-122"/>
                <a:cs typeface="Arial" pitchFamily="34" charset="-120"/>
              </a:rPr>
              <a:t>correlation-engine</a:t>
            </a:r>
            <a:endParaRPr lang="en-US" sz="1600" dirty="0"/>
          </a:p>
          <a:p>
            <a:pPr algn="ctr" indent="0" marL="0">
              <a:buNone/>
            </a:pPr>
            <a:r>
              <a:rPr lang="en-US" sz="1200" dirty="0">
                <a:solidFill>
                  <a:srgbClr val="8890B5"/>
                </a:solidFill>
                <a:latin typeface="Arial" pitchFamily="34" charset="0"/>
                <a:ea typeface="Arial" pitchFamily="34" charset="-122"/>
                <a:cs typeface="Arial" pitchFamily="34" charset="-120"/>
              </a:rPr>
              <a:t>Threshold + Sequence · 32개 시나리오 평가</a:t>
            </a:r>
            <a:endParaRPr lang="en-US" sz="1600" dirty="0"/>
          </a:p>
        </p:txBody>
      </p:sp>
      <p:sp>
        <p:nvSpPr>
          <p:cNvPr id="29" name="Shape 27"/>
          <p:cNvSpPr/>
          <p:nvPr/>
        </p:nvSpPr>
        <p:spPr>
          <a:xfrm flipH="1">
            <a:off x="2194560" y="5394960"/>
            <a:ext cx="3901288" cy="228600"/>
          </a:xfrm>
          <a:prstGeom prst="line">
            <a:avLst/>
          </a:prstGeom>
          <a:noFill/>
          <a:ln w="19050">
            <a:solidFill>
              <a:srgbClr val="A64DFF"/>
            </a:solidFill>
            <a:prstDash val="solid"/>
            <a:tailEnd type="triangle"/>
          </a:ln>
        </p:spPr>
      </p:sp>
      <p:sp>
        <p:nvSpPr>
          <p:cNvPr id="30" name="Shape 28"/>
          <p:cNvSpPr/>
          <p:nvPr/>
        </p:nvSpPr>
        <p:spPr>
          <a:xfrm>
            <a:off x="548640" y="5623560"/>
            <a:ext cx="3291840" cy="777240"/>
          </a:xfrm>
          <a:prstGeom prst="roundRect">
            <a:avLst>
              <a:gd name="adj" fmla="val 11765"/>
            </a:avLst>
          </a:prstGeom>
          <a:solidFill>
            <a:srgbClr val="16161B"/>
          </a:solidFill>
          <a:ln/>
          <a:effectLst>
            <a:outerShdw sx="100000" sy="100000" kx="0" ky="0" algn="bl" rotWithShape="0" blurRad="101600" dist="50800" dir="5400000">
              <a:srgbClr val="000000">
                <a:alpha val="45000"/>
              </a:srgbClr>
            </a:outerShdw>
          </a:effectLst>
        </p:spPr>
      </p:sp>
      <p:sp>
        <p:nvSpPr>
          <p:cNvPr id="31" name="Shape 29"/>
          <p:cNvSpPr/>
          <p:nvPr/>
        </p:nvSpPr>
        <p:spPr>
          <a:xfrm>
            <a:off x="749808" y="5806440"/>
            <a:ext cx="128016" cy="128016"/>
          </a:xfrm>
          <a:prstGeom prst="ellipse">
            <a:avLst/>
          </a:prstGeom>
          <a:solidFill>
            <a:srgbClr val="00FFA6"/>
          </a:solidFill>
          <a:ln/>
        </p:spPr>
      </p:sp>
      <p:sp>
        <p:nvSpPr>
          <p:cNvPr id="32" name="Text 30"/>
          <p:cNvSpPr/>
          <p:nvPr/>
        </p:nvSpPr>
        <p:spPr>
          <a:xfrm>
            <a:off x="960120" y="5715000"/>
            <a:ext cx="2697480" cy="365760"/>
          </a:xfrm>
          <a:prstGeom prst="rect">
            <a:avLst/>
          </a:prstGeom>
          <a:noFill/>
          <a:ln/>
        </p:spPr>
        <p:txBody>
          <a:bodyPr wrap="square" lIns="0" tIns="0" rIns="0" bIns="0" rtlCol="0" anchor="ctr"/>
          <a:lstStyle/>
          <a:p>
            <a:pPr indent="0" marL="0">
              <a:buNone/>
            </a:pPr>
            <a:r>
              <a:rPr lang="en-US" sz="1500" b="1" dirty="0">
                <a:solidFill>
                  <a:srgbClr val="F2F5FF"/>
                </a:solidFill>
                <a:latin typeface="Arial" pitchFamily="34" charset="0"/>
                <a:ea typeface="Arial" pitchFamily="34" charset="-122"/>
                <a:cs typeface="Arial" pitchFamily="34" charset="-120"/>
              </a:rPr>
              <a:t>OpenSearch</a:t>
            </a:r>
            <a:endParaRPr lang="en-US" sz="1500" dirty="0"/>
          </a:p>
        </p:txBody>
      </p:sp>
      <p:sp>
        <p:nvSpPr>
          <p:cNvPr id="33" name="Text 31"/>
          <p:cNvSpPr/>
          <p:nvPr/>
        </p:nvSpPr>
        <p:spPr>
          <a:xfrm>
            <a:off x="777240" y="6062472"/>
            <a:ext cx="2834640" cy="292608"/>
          </a:xfrm>
          <a:prstGeom prst="rect">
            <a:avLst/>
          </a:prstGeom>
          <a:noFill/>
          <a:ln/>
        </p:spPr>
        <p:txBody>
          <a:bodyPr wrap="square" lIns="0" tIns="0" rIns="0" bIns="0" rtlCol="0" anchor="ctr"/>
          <a:lstStyle/>
          <a:p>
            <a:pPr indent="0" marL="0">
              <a:buNone/>
            </a:pPr>
            <a:r>
              <a:rPr lang="en-US" sz="1100" dirty="0">
                <a:solidFill>
                  <a:srgbClr val="8890B5"/>
                </a:solidFill>
                <a:latin typeface="Arial" pitchFamily="34" charset="0"/>
                <a:ea typeface="Arial" pitchFamily="34" charset="-122"/>
                <a:cs typeface="Arial" pitchFamily="34" charset="-120"/>
              </a:rPr>
              <a:t>원본 로그 검색</a:t>
            </a:r>
            <a:endParaRPr lang="en-US" sz="1100" dirty="0"/>
          </a:p>
        </p:txBody>
      </p:sp>
      <p:sp>
        <p:nvSpPr>
          <p:cNvPr id="34" name="Shape 32"/>
          <p:cNvSpPr/>
          <p:nvPr/>
        </p:nvSpPr>
        <p:spPr>
          <a:xfrm flipH="1">
            <a:off x="6094476" y="5394960"/>
            <a:ext cx="9144" cy="228600"/>
          </a:xfrm>
          <a:prstGeom prst="line">
            <a:avLst/>
          </a:prstGeom>
          <a:noFill/>
          <a:ln w="19050">
            <a:solidFill>
              <a:srgbClr val="A64DFF"/>
            </a:solidFill>
            <a:prstDash val="solid"/>
            <a:tailEnd type="triangle"/>
          </a:ln>
        </p:spPr>
      </p:sp>
      <p:sp>
        <p:nvSpPr>
          <p:cNvPr id="35" name="Shape 33"/>
          <p:cNvSpPr/>
          <p:nvPr/>
        </p:nvSpPr>
        <p:spPr>
          <a:xfrm>
            <a:off x="4448556" y="5623560"/>
            <a:ext cx="3291840" cy="777240"/>
          </a:xfrm>
          <a:prstGeom prst="roundRect">
            <a:avLst>
              <a:gd name="adj" fmla="val 11765"/>
            </a:avLst>
          </a:prstGeom>
          <a:solidFill>
            <a:srgbClr val="16161B"/>
          </a:solidFill>
          <a:ln/>
          <a:effectLst>
            <a:outerShdw sx="100000" sy="100000" kx="0" ky="0" algn="bl" rotWithShape="0" blurRad="101600" dist="50800" dir="5400000">
              <a:srgbClr val="000000">
                <a:alpha val="45000"/>
              </a:srgbClr>
            </a:outerShdw>
          </a:effectLst>
        </p:spPr>
      </p:sp>
      <p:sp>
        <p:nvSpPr>
          <p:cNvPr id="36" name="Shape 34"/>
          <p:cNvSpPr/>
          <p:nvPr/>
        </p:nvSpPr>
        <p:spPr>
          <a:xfrm>
            <a:off x="4649724" y="5806440"/>
            <a:ext cx="128016" cy="128016"/>
          </a:xfrm>
          <a:prstGeom prst="ellipse">
            <a:avLst/>
          </a:prstGeom>
          <a:solidFill>
            <a:srgbClr val="A64DFF"/>
          </a:solidFill>
          <a:ln/>
        </p:spPr>
      </p:sp>
      <p:sp>
        <p:nvSpPr>
          <p:cNvPr id="37" name="Text 35"/>
          <p:cNvSpPr/>
          <p:nvPr/>
        </p:nvSpPr>
        <p:spPr>
          <a:xfrm>
            <a:off x="4860036" y="5715000"/>
            <a:ext cx="2697480" cy="365760"/>
          </a:xfrm>
          <a:prstGeom prst="rect">
            <a:avLst/>
          </a:prstGeom>
          <a:noFill/>
          <a:ln/>
        </p:spPr>
        <p:txBody>
          <a:bodyPr wrap="square" lIns="0" tIns="0" rIns="0" bIns="0" rtlCol="0" anchor="ctr"/>
          <a:lstStyle/>
          <a:p>
            <a:pPr indent="0" marL="0">
              <a:buNone/>
            </a:pPr>
            <a:r>
              <a:rPr lang="en-US" sz="1500" b="1" dirty="0">
                <a:solidFill>
                  <a:srgbClr val="F2F5FF"/>
                </a:solidFill>
                <a:latin typeface="Arial" pitchFamily="34" charset="0"/>
                <a:ea typeface="Arial" pitchFamily="34" charset="-122"/>
                <a:cs typeface="Arial" pitchFamily="34" charset="-120"/>
              </a:rPr>
              <a:t>ClickHouse</a:t>
            </a:r>
            <a:endParaRPr lang="en-US" sz="1500" dirty="0"/>
          </a:p>
        </p:txBody>
      </p:sp>
      <p:sp>
        <p:nvSpPr>
          <p:cNvPr id="38" name="Text 36"/>
          <p:cNvSpPr/>
          <p:nvPr/>
        </p:nvSpPr>
        <p:spPr>
          <a:xfrm>
            <a:off x="4677156" y="6062472"/>
            <a:ext cx="2834640" cy="292608"/>
          </a:xfrm>
          <a:prstGeom prst="rect">
            <a:avLst/>
          </a:prstGeom>
          <a:noFill/>
          <a:ln/>
        </p:spPr>
        <p:txBody>
          <a:bodyPr wrap="square" lIns="0" tIns="0" rIns="0" bIns="0" rtlCol="0" anchor="ctr"/>
          <a:lstStyle/>
          <a:p>
            <a:pPr indent="0" marL="0">
              <a:buNone/>
            </a:pPr>
            <a:r>
              <a:rPr lang="en-US" sz="1100" dirty="0">
                <a:solidFill>
                  <a:srgbClr val="8890B5"/>
                </a:solidFill>
                <a:latin typeface="Arial" pitchFamily="34" charset="0"/>
                <a:ea typeface="Arial" pitchFamily="34" charset="-122"/>
                <a:cs typeface="Arial" pitchFamily="34" charset="-120"/>
              </a:rPr>
              <a:t>트렌드 통계 (대량)</a:t>
            </a:r>
            <a:endParaRPr lang="en-US" sz="1100" dirty="0"/>
          </a:p>
        </p:txBody>
      </p:sp>
      <p:sp>
        <p:nvSpPr>
          <p:cNvPr id="39" name="Shape 37"/>
          <p:cNvSpPr/>
          <p:nvPr/>
        </p:nvSpPr>
        <p:spPr>
          <a:xfrm>
            <a:off x="6095848" y="5394960"/>
            <a:ext cx="3898544" cy="228600"/>
          </a:xfrm>
          <a:prstGeom prst="line">
            <a:avLst/>
          </a:prstGeom>
          <a:noFill/>
          <a:ln w="19050">
            <a:solidFill>
              <a:srgbClr val="A64DFF"/>
            </a:solidFill>
            <a:prstDash val="solid"/>
            <a:tailEnd type="triangle"/>
          </a:ln>
        </p:spPr>
      </p:sp>
      <p:sp>
        <p:nvSpPr>
          <p:cNvPr id="40" name="Shape 38"/>
          <p:cNvSpPr/>
          <p:nvPr/>
        </p:nvSpPr>
        <p:spPr>
          <a:xfrm>
            <a:off x="8348472" y="5623560"/>
            <a:ext cx="3291840" cy="777240"/>
          </a:xfrm>
          <a:prstGeom prst="roundRect">
            <a:avLst>
              <a:gd name="adj" fmla="val 11765"/>
            </a:avLst>
          </a:prstGeom>
          <a:solidFill>
            <a:srgbClr val="16161B"/>
          </a:solidFill>
          <a:ln/>
          <a:effectLst>
            <a:outerShdw sx="100000" sy="100000" kx="0" ky="0" algn="bl" rotWithShape="0" blurRad="101600" dist="50800" dir="5400000">
              <a:srgbClr val="000000">
                <a:alpha val="45000"/>
              </a:srgbClr>
            </a:outerShdw>
          </a:effectLst>
        </p:spPr>
      </p:sp>
      <p:sp>
        <p:nvSpPr>
          <p:cNvPr id="41" name="Shape 39"/>
          <p:cNvSpPr/>
          <p:nvPr/>
        </p:nvSpPr>
        <p:spPr>
          <a:xfrm>
            <a:off x="8549640" y="5806440"/>
            <a:ext cx="128016" cy="128016"/>
          </a:xfrm>
          <a:prstGeom prst="ellipse">
            <a:avLst/>
          </a:prstGeom>
          <a:solidFill>
            <a:srgbClr val="00C2FF"/>
          </a:solidFill>
          <a:ln/>
        </p:spPr>
      </p:sp>
      <p:sp>
        <p:nvSpPr>
          <p:cNvPr id="42" name="Text 40"/>
          <p:cNvSpPr/>
          <p:nvPr/>
        </p:nvSpPr>
        <p:spPr>
          <a:xfrm>
            <a:off x="8759952" y="5715000"/>
            <a:ext cx="2697480" cy="365760"/>
          </a:xfrm>
          <a:prstGeom prst="rect">
            <a:avLst/>
          </a:prstGeom>
          <a:noFill/>
          <a:ln/>
        </p:spPr>
        <p:txBody>
          <a:bodyPr wrap="square" lIns="0" tIns="0" rIns="0" bIns="0" rtlCol="0" anchor="ctr"/>
          <a:lstStyle/>
          <a:p>
            <a:pPr indent="0" marL="0">
              <a:buNone/>
            </a:pPr>
            <a:r>
              <a:rPr lang="en-US" sz="1500" b="1" dirty="0">
                <a:solidFill>
                  <a:srgbClr val="F2F5FF"/>
                </a:solidFill>
                <a:latin typeface="Arial" pitchFamily="34" charset="0"/>
                <a:ea typeface="Arial" pitchFamily="34" charset="-122"/>
                <a:cs typeface="Arial" pitchFamily="34" charset="-120"/>
              </a:rPr>
              <a:t>PostgreSQL</a:t>
            </a:r>
            <a:endParaRPr lang="en-US" sz="1500" dirty="0"/>
          </a:p>
        </p:txBody>
      </p:sp>
      <p:sp>
        <p:nvSpPr>
          <p:cNvPr id="43" name="Text 41"/>
          <p:cNvSpPr/>
          <p:nvPr/>
        </p:nvSpPr>
        <p:spPr>
          <a:xfrm>
            <a:off x="8577072" y="6062472"/>
            <a:ext cx="2834640" cy="292608"/>
          </a:xfrm>
          <a:prstGeom prst="rect">
            <a:avLst/>
          </a:prstGeom>
          <a:noFill/>
          <a:ln/>
        </p:spPr>
        <p:txBody>
          <a:bodyPr wrap="square" lIns="0" tIns="0" rIns="0" bIns="0" rtlCol="0" anchor="ctr"/>
          <a:lstStyle/>
          <a:p>
            <a:pPr indent="0" marL="0">
              <a:buNone/>
            </a:pPr>
            <a:r>
              <a:rPr lang="en-US" sz="1100" dirty="0">
                <a:solidFill>
                  <a:srgbClr val="8890B5"/>
                </a:solidFill>
                <a:latin typeface="Arial" pitchFamily="34" charset="0"/>
                <a:ea typeface="Arial" pitchFamily="34" charset="-122"/>
                <a:cs typeface="Arial" pitchFamily="34" charset="-120"/>
              </a:rPr>
              <a:t>인시던트 상태 · ACID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48640" y="457200"/>
            <a:ext cx="2651760" cy="365760"/>
          </a:xfrm>
          <a:prstGeom prst="roundRect">
            <a:avLst>
              <a:gd name="adj" fmla="val 50000"/>
            </a:avLst>
          </a:prstGeom>
          <a:solidFill>
            <a:srgbClr val="16161B"/>
          </a:solidFill>
          <a:ln/>
        </p:spPr>
      </p:sp>
      <p:sp>
        <p:nvSpPr>
          <p:cNvPr id="3" name="Text 1"/>
          <p:cNvSpPr/>
          <p:nvPr/>
        </p:nvSpPr>
        <p:spPr>
          <a:xfrm>
            <a:off x="548640" y="457200"/>
            <a:ext cx="2651760" cy="365760"/>
          </a:xfrm>
          <a:prstGeom prst="rect">
            <a:avLst/>
          </a:prstGeom>
          <a:noFill/>
          <a:ln/>
        </p:spPr>
        <p:txBody>
          <a:bodyPr wrap="square" lIns="0" tIns="0" rIns="0" bIns="0" rtlCol="0" anchor="ctr"/>
          <a:lstStyle/>
          <a:p>
            <a:pPr algn="ctr" indent="0" marL="0">
              <a:buNone/>
            </a:pPr>
            <a:r>
              <a:rPr lang="en-US" sz="1200" b="1" dirty="0">
                <a:solidFill>
                  <a:srgbClr val="00FFA6"/>
                </a:solidFill>
                <a:latin typeface="Arial" pitchFamily="34" charset="0"/>
                <a:ea typeface="Arial" pitchFamily="34" charset="-122"/>
                <a:cs typeface="Arial" pitchFamily="34" charset="-120"/>
              </a:rPr>
              <a:t>05 · 차별점·검증</a:t>
            </a:r>
            <a:endParaRPr lang="en-US" sz="1200" dirty="0"/>
          </a:p>
        </p:txBody>
      </p:sp>
      <p:sp>
        <p:nvSpPr>
          <p:cNvPr id="4" name="Shape 2"/>
          <p:cNvSpPr/>
          <p:nvPr/>
        </p:nvSpPr>
        <p:spPr>
          <a:xfrm>
            <a:off x="9262872" y="457200"/>
            <a:ext cx="2377440" cy="365760"/>
          </a:xfrm>
          <a:prstGeom prst="roundRect">
            <a:avLst>
              <a:gd name="adj" fmla="val 50000"/>
            </a:avLst>
          </a:prstGeom>
          <a:solidFill>
            <a:srgbClr val="16161B"/>
          </a:solidFill>
          <a:ln/>
        </p:spPr>
      </p:sp>
      <p:sp>
        <p:nvSpPr>
          <p:cNvPr id="5" name="Text 3"/>
          <p:cNvSpPr/>
          <p:nvPr/>
        </p:nvSpPr>
        <p:spPr>
          <a:xfrm>
            <a:off x="9262872" y="457200"/>
            <a:ext cx="2377440" cy="365760"/>
          </a:xfrm>
          <a:prstGeom prst="rect">
            <a:avLst/>
          </a:prstGeom>
          <a:noFill/>
          <a:ln/>
        </p:spPr>
        <p:txBody>
          <a:bodyPr wrap="square" lIns="0" tIns="0" rIns="0" bIns="0" rtlCol="0" anchor="ctr"/>
          <a:lstStyle/>
          <a:p>
            <a:pPr algn="ctr" indent="0" marL="0">
              <a:buNone/>
            </a:pPr>
            <a:r>
              <a:rPr lang="en-US" sz="1100" dirty="0">
                <a:solidFill>
                  <a:srgbClr val="8890B5"/>
                </a:solidFill>
                <a:latin typeface="Courier New" pitchFamily="34" charset="0"/>
                <a:ea typeface="Courier New" pitchFamily="34" charset="-122"/>
                <a:cs typeface="Courier New" pitchFamily="34" charset="-120"/>
              </a:rPr>
              <a:t>06:50–07:40</a:t>
            </a:r>
            <a:endParaRPr lang="en-US" sz="1100" dirty="0"/>
          </a:p>
        </p:txBody>
      </p:sp>
      <p:sp>
        <p:nvSpPr>
          <p:cNvPr id="6" name="Text 4"/>
          <p:cNvSpPr/>
          <p:nvPr/>
        </p:nvSpPr>
        <p:spPr>
          <a:xfrm>
            <a:off x="11091672" y="6446520"/>
            <a:ext cx="548640" cy="274320"/>
          </a:xfrm>
          <a:prstGeom prst="rect">
            <a:avLst/>
          </a:prstGeom>
          <a:noFill/>
          <a:ln/>
        </p:spPr>
        <p:txBody>
          <a:bodyPr wrap="square" lIns="0" tIns="0" rIns="0" bIns="0" rtlCol="0" anchor="ctr"/>
          <a:lstStyle/>
          <a:p>
            <a:pPr algn="r" indent="0" marL="0">
              <a:buNone/>
            </a:pPr>
            <a:r>
              <a:rPr lang="en-US" sz="1000" dirty="0">
                <a:solidFill>
                  <a:srgbClr val="5A6288"/>
                </a:solidFill>
                <a:latin typeface="Arial" pitchFamily="34" charset="0"/>
                <a:ea typeface="Arial" pitchFamily="34" charset="-122"/>
                <a:cs typeface="Arial" pitchFamily="34" charset="-120"/>
              </a:rPr>
              <a:t>7 / 8</a:t>
            </a:r>
            <a:endParaRPr lang="en-US" sz="1000" dirty="0"/>
          </a:p>
        </p:txBody>
      </p:sp>
      <p:sp>
        <p:nvSpPr>
          <p:cNvPr id="7" name="Text 5"/>
          <p:cNvSpPr/>
          <p:nvPr/>
        </p:nvSpPr>
        <p:spPr>
          <a:xfrm>
            <a:off x="548640" y="914400"/>
            <a:ext cx="11091672" cy="548640"/>
          </a:xfrm>
          <a:prstGeom prst="rect">
            <a:avLst/>
          </a:prstGeom>
          <a:noFill/>
          <a:ln/>
        </p:spPr>
        <p:txBody>
          <a:bodyPr wrap="square" lIns="0" tIns="0" rIns="0" bIns="0" rtlCol="0" anchor="ctr"/>
          <a:lstStyle/>
          <a:p>
            <a:pPr indent="0" marL="0">
              <a:buNone/>
            </a:pPr>
            <a:r>
              <a:rPr lang="en-US" sz="3000" b="1" dirty="0">
                <a:solidFill>
                  <a:srgbClr val="F2F5FF"/>
                </a:solidFill>
                <a:latin typeface="Arial" pitchFamily="34" charset="0"/>
                <a:ea typeface="Arial" pitchFamily="34" charset="-122"/>
                <a:cs typeface="Arial" pitchFamily="34" charset="-120"/>
              </a:rPr>
              <a:t>실제로 검증된 플랫폼</a:t>
            </a:r>
            <a:endParaRPr lang="en-US" sz="3000" dirty="0"/>
          </a:p>
        </p:txBody>
      </p:sp>
      <p:sp>
        <p:nvSpPr>
          <p:cNvPr id="8" name="Text 6"/>
          <p:cNvSpPr/>
          <p:nvPr/>
        </p:nvSpPr>
        <p:spPr>
          <a:xfrm>
            <a:off x="548640" y="1463040"/>
            <a:ext cx="11091672" cy="320040"/>
          </a:xfrm>
          <a:prstGeom prst="rect">
            <a:avLst/>
          </a:prstGeom>
          <a:noFill/>
          <a:ln/>
        </p:spPr>
        <p:txBody>
          <a:bodyPr wrap="square" lIns="0" tIns="0" rIns="0" bIns="0" rtlCol="0" anchor="ctr"/>
          <a:lstStyle/>
          <a:p>
            <a:pPr indent="0" marL="0">
              <a:buNone/>
            </a:pPr>
            <a:r>
              <a:rPr lang="en-US" sz="1400" dirty="0">
                <a:solidFill>
                  <a:srgbClr val="8890B5"/>
                </a:solidFill>
                <a:latin typeface="Arial" pitchFamily="34" charset="0"/>
                <a:ea typeface="Arial" pitchFamily="34" charset="-122"/>
                <a:cs typeface="Arial" pitchFamily="34" charset="-120"/>
              </a:rPr>
              <a:t>프론트엔드 목업이 아닙니다</a:t>
            </a:r>
            <a:endParaRPr lang="en-US" sz="1400" dirty="0"/>
          </a:p>
        </p:txBody>
      </p:sp>
      <p:sp>
        <p:nvSpPr>
          <p:cNvPr id="9" name="Shape 7"/>
          <p:cNvSpPr/>
          <p:nvPr/>
        </p:nvSpPr>
        <p:spPr>
          <a:xfrm>
            <a:off x="548640" y="2148840"/>
            <a:ext cx="34290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10" name="Shape 8"/>
          <p:cNvSpPr/>
          <p:nvPr/>
        </p:nvSpPr>
        <p:spPr>
          <a:xfrm>
            <a:off x="1943100" y="2331720"/>
            <a:ext cx="640080" cy="64008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11" name="Image 0" descr="preencoded.png">    </p:cNvPr>
          <p:cNvPicPr>
            <a:picLocks noChangeAspect="1"/>
          </p:cNvPicPr>
          <p:nvPr/>
        </p:nvPicPr>
        <p:blipFill>
          <a:blip r:embed="rId1"/>
          <a:stretch>
            <a:fillRect/>
          </a:stretch>
        </p:blipFill>
        <p:spPr>
          <a:xfrm>
            <a:off x="2103120" y="2491740"/>
            <a:ext cx="320040" cy="320040"/>
          </a:xfrm>
          <a:prstGeom prst="rect">
            <a:avLst/>
          </a:prstGeom>
        </p:spPr>
      </p:pic>
      <p:sp>
        <p:nvSpPr>
          <p:cNvPr id="12" name="Text 9"/>
          <p:cNvSpPr/>
          <p:nvPr/>
        </p:nvSpPr>
        <p:spPr>
          <a:xfrm>
            <a:off x="822960" y="3063240"/>
            <a:ext cx="2880360" cy="365760"/>
          </a:xfrm>
          <a:prstGeom prst="rect">
            <a:avLst/>
          </a:prstGeom>
          <a:noFill/>
          <a:ln/>
        </p:spPr>
        <p:txBody>
          <a:bodyPr wrap="square" lIns="0" tIns="0" rIns="0" bIns="0" rtlCol="0" anchor="ctr"/>
          <a:lstStyle/>
          <a:p>
            <a:pPr algn="ctr" indent="0" marL="0">
              <a:buNone/>
            </a:pPr>
            <a:r>
              <a:rPr lang="en-US" sz="1500" b="1" dirty="0">
                <a:solidFill>
                  <a:srgbClr val="F2F5FF"/>
                </a:solidFill>
                <a:latin typeface="Arial" pitchFamily="34" charset="0"/>
                <a:ea typeface="Arial" pitchFamily="34" charset="-122"/>
                <a:cs typeface="Arial" pitchFamily="34" charset="-120"/>
              </a:rPr>
              <a:t>k3d 실제 클러스터</a:t>
            </a:r>
            <a:endParaRPr lang="en-US" sz="1500" dirty="0"/>
          </a:p>
        </p:txBody>
      </p:sp>
      <p:sp>
        <p:nvSpPr>
          <p:cNvPr id="13" name="Text 10"/>
          <p:cNvSpPr/>
          <p:nvPr/>
        </p:nvSpPr>
        <p:spPr>
          <a:xfrm>
            <a:off x="822960" y="3447288"/>
            <a:ext cx="2880360" cy="475488"/>
          </a:xfrm>
          <a:prstGeom prst="rect">
            <a:avLst/>
          </a:prstGeom>
          <a:noFill/>
          <a:ln/>
        </p:spPr>
        <p:txBody>
          <a:bodyPr wrap="square" lIns="0" tIns="0" rIns="0" bIns="0" rtlCol="0" anchor="ctr"/>
          <a:lstStyle/>
          <a:p>
            <a:pPr algn="ctr" indent="0" marL="0">
              <a:buNone/>
            </a:pPr>
            <a:r>
              <a:rPr lang="en-US" sz="1100" dirty="0">
                <a:solidFill>
                  <a:srgbClr val="8890B5"/>
                </a:solidFill>
                <a:latin typeface="Arial" pitchFamily="34" charset="0"/>
                <a:ea typeface="Arial" pitchFamily="34" charset="-122"/>
                <a:cs typeface="Arial" pitchFamily="34" charset="-120"/>
              </a:rPr>
              <a:t>로컬 목업이 아닌 실제 컨테이너 오케스트레이션 환경에서 전체 파이프라인을 검증</a:t>
            </a:r>
            <a:endParaRPr lang="en-US" sz="1100" dirty="0"/>
          </a:p>
        </p:txBody>
      </p:sp>
      <p:sp>
        <p:nvSpPr>
          <p:cNvPr id="14" name="Shape 11"/>
          <p:cNvSpPr/>
          <p:nvPr/>
        </p:nvSpPr>
        <p:spPr>
          <a:xfrm>
            <a:off x="4379976" y="2148840"/>
            <a:ext cx="34290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15" name="Shape 12"/>
          <p:cNvSpPr/>
          <p:nvPr/>
        </p:nvSpPr>
        <p:spPr>
          <a:xfrm>
            <a:off x="5774436" y="2331720"/>
            <a:ext cx="640080" cy="64008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16" name="Image 1" descr="preencoded.png">    </p:cNvPr>
          <p:cNvPicPr>
            <a:picLocks noChangeAspect="1"/>
          </p:cNvPicPr>
          <p:nvPr/>
        </p:nvPicPr>
        <p:blipFill>
          <a:blip r:embed="rId2"/>
          <a:stretch>
            <a:fillRect/>
          </a:stretch>
        </p:blipFill>
        <p:spPr>
          <a:xfrm>
            <a:off x="5934456" y="2491740"/>
            <a:ext cx="320040" cy="320040"/>
          </a:xfrm>
          <a:prstGeom prst="rect">
            <a:avLst/>
          </a:prstGeom>
        </p:spPr>
      </p:pic>
      <p:sp>
        <p:nvSpPr>
          <p:cNvPr id="17" name="Text 13"/>
          <p:cNvSpPr/>
          <p:nvPr/>
        </p:nvSpPr>
        <p:spPr>
          <a:xfrm>
            <a:off x="4654296" y="3063240"/>
            <a:ext cx="2880360" cy="365760"/>
          </a:xfrm>
          <a:prstGeom prst="rect">
            <a:avLst/>
          </a:prstGeom>
          <a:noFill/>
          <a:ln/>
        </p:spPr>
        <p:txBody>
          <a:bodyPr wrap="square" lIns="0" tIns="0" rIns="0" bIns="0" rtlCol="0" anchor="ctr"/>
          <a:lstStyle/>
          <a:p>
            <a:pPr algn="ctr" indent="0" marL="0">
              <a:buNone/>
            </a:pPr>
            <a:r>
              <a:rPr lang="en-US" sz="1500" b="1" dirty="0">
                <a:solidFill>
                  <a:srgbClr val="F2F5FF"/>
                </a:solidFill>
                <a:latin typeface="Arial" pitchFamily="34" charset="0"/>
                <a:ea typeface="Arial" pitchFamily="34" charset="-122"/>
                <a:cs typeface="Arial" pitchFamily="34" charset="-120"/>
              </a:rPr>
              <a:t>실제 해킹 트래픽 주입</a:t>
            </a:r>
            <a:endParaRPr lang="en-US" sz="1500" dirty="0"/>
          </a:p>
        </p:txBody>
      </p:sp>
      <p:sp>
        <p:nvSpPr>
          <p:cNvPr id="18" name="Text 14"/>
          <p:cNvSpPr/>
          <p:nvPr/>
        </p:nvSpPr>
        <p:spPr>
          <a:xfrm>
            <a:off x="4654296" y="3447288"/>
            <a:ext cx="2880360" cy="475488"/>
          </a:xfrm>
          <a:prstGeom prst="rect">
            <a:avLst/>
          </a:prstGeom>
          <a:noFill/>
          <a:ln/>
        </p:spPr>
        <p:txBody>
          <a:bodyPr wrap="square" lIns="0" tIns="0" rIns="0" bIns="0" rtlCol="0" anchor="ctr"/>
          <a:lstStyle/>
          <a:p>
            <a:pPr algn="ctr" indent="0" marL="0">
              <a:buNone/>
            </a:pPr>
            <a:r>
              <a:rPr lang="en-US" sz="1100" dirty="0">
                <a:solidFill>
                  <a:srgbClr val="8890B5"/>
                </a:solidFill>
                <a:latin typeface="Arial" pitchFamily="34" charset="0"/>
                <a:ea typeface="Arial" pitchFamily="34" charset="-122"/>
                <a:cs typeface="Arial" pitchFamily="34" charset="-120"/>
              </a:rPr>
              <a:t>취약 웹앱 Juice Shop에 실제 공격 트래픽을 주입해 탐지 정확도를 확인</a:t>
            </a:r>
            <a:endParaRPr lang="en-US" sz="1100" dirty="0"/>
          </a:p>
        </p:txBody>
      </p:sp>
      <p:sp>
        <p:nvSpPr>
          <p:cNvPr id="19" name="Shape 15"/>
          <p:cNvSpPr/>
          <p:nvPr/>
        </p:nvSpPr>
        <p:spPr>
          <a:xfrm>
            <a:off x="8211312" y="2148840"/>
            <a:ext cx="3429000" cy="1828800"/>
          </a:xfrm>
          <a:prstGeom prst="roundRect">
            <a:avLst>
              <a:gd name="adj" fmla="val 6000"/>
            </a:avLst>
          </a:prstGeom>
          <a:solidFill>
            <a:srgbClr val="16161B"/>
          </a:solidFill>
          <a:ln/>
          <a:effectLst>
            <a:outerShdw sx="100000" sy="100000" kx="0" ky="0" algn="bl" rotWithShape="0" blurRad="101600" dist="50800" dir="5400000">
              <a:srgbClr val="000000">
                <a:alpha val="45000"/>
              </a:srgbClr>
            </a:outerShdw>
          </a:effectLst>
        </p:spPr>
      </p:sp>
      <p:sp>
        <p:nvSpPr>
          <p:cNvPr id="20" name="Shape 16"/>
          <p:cNvSpPr/>
          <p:nvPr/>
        </p:nvSpPr>
        <p:spPr>
          <a:xfrm>
            <a:off x="9605772" y="2331720"/>
            <a:ext cx="640080" cy="640080"/>
          </a:xfrm>
          <a:prstGeom prst="ellipse">
            <a:avLst/>
          </a:prstGeom>
          <a:solidFill>
            <a:srgbClr val="0D0D10"/>
          </a:solidFill>
          <a:ln/>
          <a:effectLst>
            <a:outerShdw sx="100000" sy="100000" kx="0" ky="0" algn="bl" rotWithShape="0" blurRad="101600" dist="50800" dir="5400000">
              <a:srgbClr val="000000">
                <a:alpha val="45000"/>
              </a:srgbClr>
            </a:outerShdw>
          </a:effectLst>
        </p:spPr>
      </p:sp>
      <p:pic>
        <p:nvPicPr>
          <p:cNvPr id="21" name="Image 2" descr="preencoded.png">    </p:cNvPr>
          <p:cNvPicPr>
            <a:picLocks noChangeAspect="1"/>
          </p:cNvPicPr>
          <p:nvPr/>
        </p:nvPicPr>
        <p:blipFill>
          <a:blip r:embed="rId3"/>
          <a:stretch>
            <a:fillRect/>
          </a:stretch>
        </p:blipFill>
        <p:spPr>
          <a:xfrm>
            <a:off x="9765792" y="2491740"/>
            <a:ext cx="320040" cy="320040"/>
          </a:xfrm>
          <a:prstGeom prst="rect">
            <a:avLst/>
          </a:prstGeom>
        </p:spPr>
      </p:pic>
      <p:sp>
        <p:nvSpPr>
          <p:cNvPr id="22" name="Text 17"/>
          <p:cNvSpPr/>
          <p:nvPr/>
        </p:nvSpPr>
        <p:spPr>
          <a:xfrm>
            <a:off x="8485632" y="3063240"/>
            <a:ext cx="2880360" cy="365760"/>
          </a:xfrm>
          <a:prstGeom prst="rect">
            <a:avLst/>
          </a:prstGeom>
          <a:noFill/>
          <a:ln/>
        </p:spPr>
        <p:txBody>
          <a:bodyPr wrap="square" lIns="0" tIns="0" rIns="0" bIns="0" rtlCol="0" anchor="ctr"/>
          <a:lstStyle/>
          <a:p>
            <a:pPr algn="ctr" indent="0" marL="0">
              <a:buNone/>
            </a:pPr>
            <a:r>
              <a:rPr lang="en-US" sz="1500" b="1" dirty="0">
                <a:solidFill>
                  <a:srgbClr val="F2F5FF"/>
                </a:solidFill>
                <a:latin typeface="Arial" pitchFamily="34" charset="0"/>
                <a:ea typeface="Arial" pitchFamily="34" charset="-122"/>
                <a:cs typeface="Arial" pitchFamily="34" charset="-120"/>
              </a:rPr>
              <a:t>MITRE ATT&amp;CK 커버리지</a:t>
            </a:r>
            <a:endParaRPr lang="en-US" sz="1500" dirty="0"/>
          </a:p>
        </p:txBody>
      </p:sp>
      <p:sp>
        <p:nvSpPr>
          <p:cNvPr id="23" name="Text 18"/>
          <p:cNvSpPr/>
          <p:nvPr/>
        </p:nvSpPr>
        <p:spPr>
          <a:xfrm>
            <a:off x="8485632" y="3447288"/>
            <a:ext cx="2880360" cy="475488"/>
          </a:xfrm>
          <a:prstGeom prst="rect">
            <a:avLst/>
          </a:prstGeom>
          <a:noFill/>
          <a:ln/>
        </p:spPr>
        <p:txBody>
          <a:bodyPr wrap="square" lIns="0" tIns="0" rIns="0" bIns="0" rtlCol="0" anchor="ctr"/>
          <a:lstStyle/>
          <a:p>
            <a:pPr algn="ctr" indent="0" marL="0">
              <a:buNone/>
            </a:pPr>
            <a:r>
              <a:rPr lang="en-US" sz="1100" dirty="0">
                <a:solidFill>
                  <a:srgbClr val="8890B5"/>
                </a:solidFill>
                <a:latin typeface="Arial" pitchFamily="34" charset="0"/>
                <a:ea typeface="Arial" pitchFamily="34" charset="-122"/>
                <a:cs typeface="Arial" pitchFamily="34" charset="-120"/>
              </a:rPr>
              <a:t>공식 Containers 매트릭스 기준으로 커버리지를 추적해 정밀 탐지 스코어 보장</a:t>
            </a:r>
            <a:endParaRPr lang="en-US" sz="1100" dirty="0"/>
          </a:p>
        </p:txBody>
      </p:sp>
      <p:sp>
        <p:nvSpPr>
          <p:cNvPr id="24" name="Shape 19"/>
          <p:cNvSpPr/>
          <p:nvPr/>
        </p:nvSpPr>
        <p:spPr>
          <a:xfrm>
            <a:off x="548640" y="4343400"/>
            <a:ext cx="5257800" cy="1737360"/>
          </a:xfrm>
          <a:prstGeom prst="roundRect">
            <a:avLst>
              <a:gd name="adj" fmla="val 6316"/>
            </a:avLst>
          </a:prstGeom>
          <a:solidFill>
            <a:srgbClr val="16161B"/>
          </a:solidFill>
          <a:ln/>
        </p:spPr>
      </p:sp>
      <p:sp>
        <p:nvSpPr>
          <p:cNvPr id="25" name="Text 20"/>
          <p:cNvSpPr/>
          <p:nvPr/>
        </p:nvSpPr>
        <p:spPr>
          <a:xfrm>
            <a:off x="868680" y="4599432"/>
            <a:ext cx="4617720" cy="365760"/>
          </a:xfrm>
          <a:prstGeom prst="rect">
            <a:avLst/>
          </a:prstGeom>
          <a:noFill/>
          <a:ln/>
        </p:spPr>
        <p:txBody>
          <a:bodyPr wrap="square" lIns="0" tIns="0" rIns="0" bIns="0" rtlCol="0" anchor="ctr"/>
          <a:lstStyle/>
          <a:p>
            <a:pPr indent="0" marL="0">
              <a:buNone/>
            </a:pPr>
            <a:r>
              <a:rPr lang="en-US" sz="1500" b="1" dirty="0">
                <a:solidFill>
                  <a:srgbClr val="8890B5"/>
                </a:solidFill>
                <a:latin typeface="Arial" pitchFamily="34" charset="0"/>
                <a:ea typeface="Arial" pitchFamily="34" charset="-122"/>
                <a:cs typeface="Arial" pitchFamily="34" charset="-120"/>
              </a:rPr>
              <a:t>기존 방식 · Grafana / Datadog</a:t>
            </a:r>
            <a:endParaRPr lang="en-US" sz="1500" dirty="0"/>
          </a:p>
        </p:txBody>
      </p:sp>
      <p:sp>
        <p:nvSpPr>
          <p:cNvPr id="26" name="Text 21"/>
          <p:cNvSpPr/>
          <p:nvPr/>
        </p:nvSpPr>
        <p:spPr>
          <a:xfrm>
            <a:off x="868680" y="5074920"/>
            <a:ext cx="4617720" cy="822960"/>
          </a:xfrm>
          <a:prstGeom prst="rect">
            <a:avLst/>
          </a:prstGeom>
          <a:noFill/>
          <a:ln/>
        </p:spPr>
        <p:txBody>
          <a:bodyPr wrap="square" lIns="0" tIns="0" rIns="0" bIns="0" rtlCol="0" anchor="ctr"/>
          <a:lstStyle/>
          <a:p>
            <a:pPr indent="0" marL="0">
              <a:buNone/>
            </a:pPr>
            <a:r>
              <a:rPr lang="en-US" sz="1300" dirty="0">
                <a:solidFill>
                  <a:srgbClr val="8890B5"/>
                </a:solidFill>
                <a:latin typeface="Arial" pitchFamily="34" charset="0"/>
                <a:ea typeface="Arial" pitchFamily="34" charset="-122"/>
                <a:cs typeface="Arial" pitchFamily="34" charset="-120"/>
              </a:rPr>
              <a:t>여러 패널을 직접 오가며 로그를 유추해야 하는 파편화된 경험</a:t>
            </a:r>
            <a:endParaRPr lang="en-US" sz="1300" dirty="0"/>
          </a:p>
        </p:txBody>
      </p:sp>
      <p:sp>
        <p:nvSpPr>
          <p:cNvPr id="27" name="Shape 22"/>
          <p:cNvSpPr/>
          <p:nvPr/>
        </p:nvSpPr>
        <p:spPr>
          <a:xfrm>
            <a:off x="6355080" y="4343400"/>
            <a:ext cx="5257800" cy="1737360"/>
          </a:xfrm>
          <a:prstGeom prst="roundRect">
            <a:avLst>
              <a:gd name="adj" fmla="val 6316"/>
            </a:avLst>
          </a:prstGeom>
          <a:solidFill>
            <a:srgbClr val="0D0D10"/>
          </a:solidFill>
          <a:ln w="19050">
            <a:solidFill>
              <a:srgbClr val="00FFA6"/>
            </a:solidFill>
            <a:prstDash val="solid"/>
          </a:ln>
          <a:effectLst>
            <a:outerShdw sx="100000" sy="100000" kx="0" ky="0" algn="bl" rotWithShape="0" blurRad="101600" dist="50800" dir="5400000">
              <a:srgbClr val="000000">
                <a:alpha val="45000"/>
              </a:srgbClr>
            </a:outerShdw>
          </a:effectLst>
        </p:spPr>
      </p:sp>
      <p:sp>
        <p:nvSpPr>
          <p:cNvPr id="28" name="Text 23"/>
          <p:cNvSpPr/>
          <p:nvPr/>
        </p:nvSpPr>
        <p:spPr>
          <a:xfrm>
            <a:off x="6675120" y="4599432"/>
            <a:ext cx="4617720" cy="365760"/>
          </a:xfrm>
          <a:prstGeom prst="rect">
            <a:avLst/>
          </a:prstGeom>
          <a:noFill/>
          <a:ln/>
        </p:spPr>
        <p:txBody>
          <a:bodyPr wrap="square" lIns="0" tIns="0" rIns="0" bIns="0" rtlCol="0" anchor="ctr"/>
          <a:lstStyle/>
          <a:p>
            <a:pPr indent="0" marL="0">
              <a:buNone/>
            </a:pPr>
            <a:r>
              <a:rPr lang="en-US" sz="1500" b="1" dirty="0">
                <a:solidFill>
                  <a:srgbClr val="00FFA6"/>
                </a:solidFill>
                <a:latin typeface="Arial" pitchFamily="34" charset="0"/>
                <a:ea typeface="Arial" pitchFamily="34" charset="-122"/>
                <a:cs typeface="Arial" pitchFamily="34" charset="-120"/>
              </a:rPr>
              <a:t>SENTINEL-OPS</a:t>
            </a:r>
            <a:endParaRPr lang="en-US" sz="1500" dirty="0"/>
          </a:p>
        </p:txBody>
      </p:sp>
      <p:sp>
        <p:nvSpPr>
          <p:cNvPr id="29" name="Text 24"/>
          <p:cNvSpPr/>
          <p:nvPr/>
        </p:nvSpPr>
        <p:spPr>
          <a:xfrm>
            <a:off x="6675120" y="5074920"/>
            <a:ext cx="4617720" cy="822960"/>
          </a:xfrm>
          <a:prstGeom prst="rect">
            <a:avLst/>
          </a:prstGeom>
          <a:noFill/>
          <a:ln/>
        </p:spPr>
        <p:txBody>
          <a:bodyPr wrap="square" lIns="0" tIns="0" rIns="0" bIns="0" rtlCol="0" anchor="ctr"/>
          <a:lstStyle/>
          <a:p>
            <a:pPr indent="0" marL="0">
              <a:buNone/>
            </a:pPr>
            <a:r>
              <a:rPr lang="en-US" sz="1300" dirty="0">
                <a:solidFill>
                  <a:srgbClr val="F2F5FF"/>
                </a:solidFill>
                <a:latin typeface="Arial" pitchFamily="34" charset="0"/>
                <a:ea typeface="Arial" pitchFamily="34" charset="-122"/>
                <a:cs typeface="Arial" pitchFamily="34" charset="-120"/>
              </a:rPr>
              <a:t>앉은 자리에서 완벽하게 맥락이 이어지는 시각적 동선을 제공</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0305"/>
        </a:solidFill>
      </p:bgPr>
    </p:bg>
    <p:spTree>
      <p:nvGrpSpPr>
        <p:cNvPr id="1" name=""/>
        <p:cNvGrpSpPr/>
        <p:nvPr/>
      </p:nvGrpSpPr>
      <p:grpSpPr>
        <a:xfrm>
          <a:off x="0" y="0"/>
          <a:ext cx="0" cy="0"/>
          <a:chOff x="0" y="0"/>
          <a:chExt cx="0" cy="0"/>
        </a:xfrm>
      </p:grpSpPr>
      <p:sp>
        <p:nvSpPr>
          <p:cNvPr id="2" name="Shape 0"/>
          <p:cNvSpPr/>
          <p:nvPr/>
        </p:nvSpPr>
        <p:spPr>
          <a:xfrm>
            <a:off x="5669280" y="-2926080"/>
            <a:ext cx="8229600" cy="8229600"/>
          </a:xfrm>
          <a:prstGeom prst="ellipse">
            <a:avLst/>
          </a:prstGeom>
          <a:solidFill>
            <a:srgbClr val="00FFA6">
              <a:alpha val="8000"/>
            </a:srgbClr>
          </a:solidFill>
          <a:ln/>
        </p:spPr>
      </p:sp>
      <p:sp>
        <p:nvSpPr>
          <p:cNvPr id="3" name="Shape 1"/>
          <p:cNvSpPr/>
          <p:nvPr/>
        </p:nvSpPr>
        <p:spPr>
          <a:xfrm>
            <a:off x="8686800" y="-2377440"/>
            <a:ext cx="6858000" cy="6858000"/>
          </a:xfrm>
          <a:prstGeom prst="ellipse">
            <a:avLst/>
          </a:prstGeom>
          <a:solidFill>
            <a:srgbClr val="A64DFF">
              <a:alpha val="6000"/>
            </a:srgbClr>
          </a:solidFill>
          <a:ln/>
        </p:spPr>
      </p:sp>
      <p:sp>
        <p:nvSpPr>
          <p:cNvPr id="4" name="Text 2"/>
          <p:cNvSpPr/>
          <p:nvPr/>
        </p:nvSpPr>
        <p:spPr>
          <a:xfrm>
            <a:off x="548640" y="2468880"/>
            <a:ext cx="11091672" cy="1005840"/>
          </a:xfrm>
          <a:prstGeom prst="rect">
            <a:avLst/>
          </a:prstGeom>
          <a:noFill/>
          <a:ln/>
        </p:spPr>
        <p:txBody>
          <a:bodyPr wrap="square" lIns="0" tIns="0" rIns="0" bIns="0" rtlCol="0" anchor="ctr"/>
          <a:lstStyle/>
          <a:p>
            <a:pPr algn="ctr" indent="0" marL="0">
              <a:buNone/>
            </a:pPr>
            <a:r>
              <a:rPr lang="en-US" sz="6000" b="1" spc="400" kern="0" dirty="0">
                <a:solidFill>
                  <a:srgbClr val="00FFA6"/>
                </a:solidFill>
                <a:latin typeface="Arial" pitchFamily="34" charset="0"/>
                <a:ea typeface="Arial" pitchFamily="34" charset="-122"/>
                <a:cs typeface="Arial" pitchFamily="34" charset="-120"/>
              </a:rPr>
              <a:t>Q &amp; A</a:t>
            </a:r>
            <a:endParaRPr lang="en-US" sz="6000" dirty="0"/>
          </a:p>
        </p:txBody>
      </p:sp>
      <p:sp>
        <p:nvSpPr>
          <p:cNvPr id="5" name="Text 3"/>
          <p:cNvSpPr/>
          <p:nvPr/>
        </p:nvSpPr>
        <p:spPr>
          <a:xfrm>
            <a:off x="548640" y="3703320"/>
            <a:ext cx="11091672" cy="502920"/>
          </a:xfrm>
          <a:prstGeom prst="rect">
            <a:avLst/>
          </a:prstGeom>
          <a:noFill/>
          <a:ln/>
        </p:spPr>
        <p:txBody>
          <a:bodyPr wrap="square" lIns="0" tIns="0" rIns="0" bIns="0" rtlCol="0" anchor="ctr"/>
          <a:lstStyle/>
          <a:p>
            <a:pPr algn="ctr" indent="0" marL="0">
              <a:buNone/>
            </a:pPr>
            <a:r>
              <a:rPr lang="en-US" sz="2000" i="1" dirty="0">
                <a:solidFill>
                  <a:srgbClr val="F2F5FF"/>
                </a:solidFill>
                <a:latin typeface="Arial" pitchFamily="34" charset="0"/>
                <a:ea typeface="Arial" pitchFamily="34" charset="-122"/>
                <a:cs typeface="Arial" pitchFamily="34" charset="-120"/>
              </a:rPr>
              <a:t>파편화된 대량의 데이터를, 직관적인 하나의 사건으로.</a:t>
            </a:r>
            <a:endParaRPr lang="en-US" sz="2000" dirty="0"/>
          </a:p>
        </p:txBody>
      </p:sp>
      <p:sp>
        <p:nvSpPr>
          <p:cNvPr id="6" name="Text 4"/>
          <p:cNvSpPr/>
          <p:nvPr/>
        </p:nvSpPr>
        <p:spPr>
          <a:xfrm>
            <a:off x="548640" y="4343400"/>
            <a:ext cx="11091672" cy="365760"/>
          </a:xfrm>
          <a:prstGeom prst="rect">
            <a:avLst/>
          </a:prstGeom>
          <a:noFill/>
          <a:ln/>
        </p:spPr>
        <p:txBody>
          <a:bodyPr wrap="square" lIns="0" tIns="0" rIns="0" bIns="0" rtlCol="0" anchor="ctr"/>
          <a:lstStyle/>
          <a:p>
            <a:pPr algn="ctr" indent="0" marL="0">
              <a:buNone/>
            </a:pPr>
            <a:r>
              <a:rPr lang="en-US" sz="1500" dirty="0">
                <a:solidFill>
                  <a:srgbClr val="8890B5"/>
                </a:solidFill>
                <a:latin typeface="Arial" pitchFamily="34" charset="0"/>
                <a:ea typeface="Arial" pitchFamily="34" charset="-122"/>
                <a:cs typeface="Arial" pitchFamily="34" charset="-120"/>
              </a:rPr>
              <a:t>경청해 주셔서 감사합니다</a:t>
            </a:r>
            <a:endParaRPr lang="en-US" sz="1500" dirty="0"/>
          </a:p>
        </p:txBody>
      </p:sp>
      <p:sp>
        <p:nvSpPr>
          <p:cNvPr id="7" name="Text 5"/>
          <p:cNvSpPr/>
          <p:nvPr/>
        </p:nvSpPr>
        <p:spPr>
          <a:xfrm>
            <a:off x="548640" y="5989320"/>
            <a:ext cx="11091672" cy="365760"/>
          </a:xfrm>
          <a:prstGeom prst="rect">
            <a:avLst/>
          </a:prstGeom>
          <a:noFill/>
          <a:ln/>
        </p:spPr>
        <p:txBody>
          <a:bodyPr wrap="square" lIns="0" tIns="0" rIns="0" bIns="0" rtlCol="0" anchor="ctr"/>
          <a:lstStyle/>
          <a:p>
            <a:pPr algn="ctr" indent="0" marL="0">
              <a:buNone/>
            </a:pPr>
            <a:r>
              <a:rPr lang="en-US" sz="1300" dirty="0">
                <a:solidFill>
                  <a:srgbClr val="8890B5"/>
                </a:solidFill>
                <a:latin typeface="Arial" pitchFamily="34" charset="0"/>
                <a:ea typeface="Arial" pitchFamily="34" charset="-122"/>
                <a:cs typeface="Arial" pitchFamily="34" charset="-120"/>
              </a:rPr>
              <a:t>SENTINEL-OPS 팀</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2026-07-17T16:16:28Z</dcterms:created>
  <dcterms:modified xsi:type="dcterms:W3CDTF">2026-07-17T16:16:28Z</dcterms:modified>
</cp:coreProperties>
</file>